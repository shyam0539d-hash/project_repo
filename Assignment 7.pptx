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1F86-DD1B-49CD-AF29-F728D16A08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6C8408F-AA40-4C3E-A3BD-A10F2CAF80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8DE2C9B-2E25-4D18-8E71-02C956ADFBEB}"/>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5" name="Footer Placeholder 4">
            <a:extLst>
              <a:ext uri="{FF2B5EF4-FFF2-40B4-BE49-F238E27FC236}">
                <a16:creationId xmlns:a16="http://schemas.microsoft.com/office/drawing/2014/main" id="{B98796FD-F7D8-4572-B4FF-F61B8308CB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EFE4B0-3B02-4916-8CBF-41625CB18854}"/>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3292251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5537-74B4-49B1-B289-6C074C97F92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F145348-0393-474F-B18B-A78BBEBE35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76E39AE-C5AF-4AD1-962A-7B130B5922D4}"/>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5" name="Footer Placeholder 4">
            <a:extLst>
              <a:ext uri="{FF2B5EF4-FFF2-40B4-BE49-F238E27FC236}">
                <a16:creationId xmlns:a16="http://schemas.microsoft.com/office/drawing/2014/main" id="{AECED2FC-E8DB-481B-921B-C24C3973D4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4D3C56-22BA-49C4-9CA8-AED026C6BFF2}"/>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2571102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370CB-BB0E-4D5B-A51B-C64DEAA9E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7FA12E4-2DE6-4AF7-9CF6-4B8B92288D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494DBD7-7771-4041-86C7-E0E854D9DDDA}"/>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5" name="Footer Placeholder 4">
            <a:extLst>
              <a:ext uri="{FF2B5EF4-FFF2-40B4-BE49-F238E27FC236}">
                <a16:creationId xmlns:a16="http://schemas.microsoft.com/office/drawing/2014/main" id="{FF4C553E-0217-481D-B244-334223F76F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8AB9207-73E5-4AFF-9D4B-B9CD1FA1A31C}"/>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2436632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D089F-D84D-4476-B587-39011759BBC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EC22ED9-44A5-4ABA-BEE7-5FF9A235235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44A64CF-653C-4C77-BB20-590CA95C6CB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7FD2274-84BA-4BCF-B6F5-02C50C168004}"/>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6" name="Footer Placeholder 5">
            <a:extLst>
              <a:ext uri="{FF2B5EF4-FFF2-40B4-BE49-F238E27FC236}">
                <a16:creationId xmlns:a16="http://schemas.microsoft.com/office/drawing/2014/main" id="{8DEC2084-D091-487F-AA64-A5F043ED18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BF908F5-7E8F-481C-AE6E-968506988EF2}"/>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3937998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BE029-710F-4734-85EA-54C11BBA40D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62C0197-66BC-4CE4-96A6-5F809AE167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A76F123-B479-4A9A-9C5B-794F8351E0C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B938184-15DC-4163-A112-733406B718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4B7A716-97EF-4C50-97AE-981984BB871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4D793F2-8BE1-4AEE-A7AB-58B511DC619C}"/>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8" name="Footer Placeholder 7">
            <a:extLst>
              <a:ext uri="{FF2B5EF4-FFF2-40B4-BE49-F238E27FC236}">
                <a16:creationId xmlns:a16="http://schemas.microsoft.com/office/drawing/2014/main" id="{6B7BB54B-2DD0-4FF3-A187-F5E7C7F9016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134B3AA-68E8-4007-967D-15B3A9719E99}"/>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1864481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FF57B-6D5E-418C-8921-6BC4B65D37B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461605E-2751-47F7-ADB1-56D39EECD038}"/>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4" name="Footer Placeholder 3">
            <a:extLst>
              <a:ext uri="{FF2B5EF4-FFF2-40B4-BE49-F238E27FC236}">
                <a16:creationId xmlns:a16="http://schemas.microsoft.com/office/drawing/2014/main" id="{9A628EC8-18FF-44CC-BFF9-20120C66B95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6972CAA-C206-4B18-A1BB-44F4E3807B65}"/>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2901922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3597AD-7B4A-44C0-B6F3-649CD586C4C2}"/>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3" name="Footer Placeholder 2">
            <a:extLst>
              <a:ext uri="{FF2B5EF4-FFF2-40B4-BE49-F238E27FC236}">
                <a16:creationId xmlns:a16="http://schemas.microsoft.com/office/drawing/2014/main" id="{6835B3F0-5470-48F7-A297-B3CEDB93B6B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F4613DA-70E5-48E4-AAAD-19BF8DF0431C}"/>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2798687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621C9-56E5-4754-A3D1-CF144429FB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02D72DA-F738-4417-92B5-C571DE9F0C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61DA5EA-130E-4D3C-9B25-32376B341D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4E1C315-4873-4026-9A52-D201B34A7718}"/>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6" name="Footer Placeholder 5">
            <a:extLst>
              <a:ext uri="{FF2B5EF4-FFF2-40B4-BE49-F238E27FC236}">
                <a16:creationId xmlns:a16="http://schemas.microsoft.com/office/drawing/2014/main" id="{3179BE4F-7CAA-41DB-867F-5DF3B9B63C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DD63A06-840F-4DF4-8109-932F408174E4}"/>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320780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30834-447D-4EA0-B2AC-DD594FECC3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F04E33E-2AEC-4734-9AE4-2833315C1C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83D9C02-A77E-478A-A788-52F6C3764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31D82BC-073D-4BD8-96E1-D4619E2EB553}"/>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6" name="Footer Placeholder 5">
            <a:extLst>
              <a:ext uri="{FF2B5EF4-FFF2-40B4-BE49-F238E27FC236}">
                <a16:creationId xmlns:a16="http://schemas.microsoft.com/office/drawing/2014/main" id="{BE3220B8-4144-408E-AB09-F48883845D9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7476497-22A7-4CAA-9261-BDA6530596CF}"/>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2353097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2D1CA-4FB5-4464-964C-5A2C36A9BF9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DD71C6C-B797-4474-92F9-9E9FBB75F53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D14DFBE-D6C0-4952-A546-DF9F52550926}"/>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5" name="Footer Placeholder 4">
            <a:extLst>
              <a:ext uri="{FF2B5EF4-FFF2-40B4-BE49-F238E27FC236}">
                <a16:creationId xmlns:a16="http://schemas.microsoft.com/office/drawing/2014/main" id="{D0D81189-8468-4815-A49F-393B2743BE3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A6C8993-1F96-4163-87B6-941714E9F4B1}"/>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364093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B8B94E-911E-4E07-9A76-5F02E443F0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106EF55-FC7F-4CDF-93CC-F15A5815F20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0A3B0AF-76C1-468D-AB0C-26539FB05236}"/>
              </a:ext>
            </a:extLst>
          </p:cNvPr>
          <p:cNvSpPr>
            <a:spLocks noGrp="1"/>
          </p:cNvSpPr>
          <p:nvPr>
            <p:ph type="dt" sz="half" idx="10"/>
          </p:nvPr>
        </p:nvSpPr>
        <p:spPr/>
        <p:txBody>
          <a:bodyPr/>
          <a:lstStyle/>
          <a:p>
            <a:fld id="{3D036FFF-94A8-492A-98B4-DB9AE76656DD}" type="datetimeFigureOut">
              <a:rPr lang="en-GB" smtClean="0"/>
              <a:t>15/06/2026</a:t>
            </a:fld>
            <a:endParaRPr lang="en-GB"/>
          </a:p>
        </p:txBody>
      </p:sp>
      <p:sp>
        <p:nvSpPr>
          <p:cNvPr id="5" name="Footer Placeholder 4">
            <a:extLst>
              <a:ext uri="{FF2B5EF4-FFF2-40B4-BE49-F238E27FC236}">
                <a16:creationId xmlns:a16="http://schemas.microsoft.com/office/drawing/2014/main" id="{36D5BD1C-D669-47F6-81F8-FDAD48E9E1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B60990-E56E-42EA-A9FB-FD10A2862B64}"/>
              </a:ext>
            </a:extLst>
          </p:cNvPr>
          <p:cNvSpPr>
            <a:spLocks noGrp="1"/>
          </p:cNvSpPr>
          <p:nvPr>
            <p:ph type="sldNum" sz="quarter" idx="12"/>
          </p:nvPr>
        </p:nvSpPr>
        <p:spPr/>
        <p:txBody>
          <a:bodyPr/>
          <a:lstStyle/>
          <a:p>
            <a:fld id="{12A28D8D-DACE-4048-890F-D1D8AB29931C}" type="slidenum">
              <a:rPr lang="en-GB" smtClean="0"/>
              <a:t>‹#›</a:t>
            </a:fld>
            <a:endParaRPr lang="en-GB"/>
          </a:p>
        </p:txBody>
      </p:sp>
    </p:spTree>
    <p:extLst>
      <p:ext uri="{BB962C8B-B14F-4D97-AF65-F5344CB8AC3E}">
        <p14:creationId xmlns:p14="http://schemas.microsoft.com/office/powerpoint/2010/main" val="3084129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2FDC5C-9532-4917-A32A-DBB379F096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32C4D6-CA02-46FE-900C-17D87A8820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547B91-FC36-4BC0-86CB-49148803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036FFF-94A8-492A-98B4-DB9AE76656DD}" type="datetimeFigureOut">
              <a:rPr lang="en-GB" smtClean="0"/>
              <a:t>15/06/2026</a:t>
            </a:fld>
            <a:endParaRPr lang="en-GB"/>
          </a:p>
        </p:txBody>
      </p:sp>
      <p:sp>
        <p:nvSpPr>
          <p:cNvPr id="5" name="Footer Placeholder 4">
            <a:extLst>
              <a:ext uri="{FF2B5EF4-FFF2-40B4-BE49-F238E27FC236}">
                <a16:creationId xmlns:a16="http://schemas.microsoft.com/office/drawing/2014/main" id="{7EE79858-F106-414A-AA26-BF5094BD48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2508397-0DBE-4F9F-A9D6-0411E70540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A28D8D-DACE-4048-890F-D1D8AB29931C}" type="slidenum">
              <a:rPr lang="en-GB" smtClean="0"/>
              <a:t>‹#›</a:t>
            </a:fld>
            <a:endParaRPr lang="en-GB"/>
          </a:p>
        </p:txBody>
      </p:sp>
    </p:spTree>
    <p:extLst>
      <p:ext uri="{BB962C8B-B14F-4D97-AF65-F5344CB8AC3E}">
        <p14:creationId xmlns:p14="http://schemas.microsoft.com/office/powerpoint/2010/main" val="459828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B6FC7C-C7BA-4F8F-948E-52B1D52E4168}"/>
              </a:ext>
            </a:extLst>
          </p:cNvPr>
          <p:cNvSpPr/>
          <p:nvPr/>
        </p:nvSpPr>
        <p:spPr>
          <a:xfrm>
            <a:off x="509047" y="1451727"/>
            <a:ext cx="11001081" cy="5509200"/>
          </a:xfrm>
          <a:prstGeom prst="rect">
            <a:avLst/>
          </a:prstGeom>
        </p:spPr>
        <p:txBody>
          <a:bodyPr wrap="square">
            <a:spAutoFit/>
          </a:bodyPr>
          <a:lstStyle/>
          <a:p>
            <a:pPr algn="ctr"/>
            <a:r>
              <a:rPr lang="en-GB" sz="4400" b="1" dirty="0"/>
              <a:t>Smart Building Energy Optimization Assistant</a:t>
            </a:r>
          </a:p>
          <a:p>
            <a:pPr algn="ctr"/>
            <a:r>
              <a:rPr lang="en-GB" sz="4400" b="1" dirty="0"/>
              <a:t>Demonstration of Use Cases 1–3</a:t>
            </a:r>
          </a:p>
          <a:p>
            <a:pPr algn="ctr"/>
            <a:endParaRPr lang="en-GB" sz="4400" b="1" dirty="0"/>
          </a:p>
          <a:p>
            <a:pPr algn="ctr"/>
            <a:r>
              <a:rPr lang="en-GB" sz="4400" b="1" dirty="0"/>
              <a:t>Course:</a:t>
            </a:r>
            <a:r>
              <a:rPr lang="en-GB" sz="4400" dirty="0"/>
              <a:t> CISC 699 – Applied Project</a:t>
            </a:r>
          </a:p>
          <a:p>
            <a:pPr algn="ctr"/>
            <a:br>
              <a:rPr lang="en-GB" sz="4400" dirty="0"/>
            </a:br>
            <a:r>
              <a:rPr lang="en-GB" sz="4400" b="1" dirty="0"/>
              <a:t>Student:</a:t>
            </a:r>
            <a:r>
              <a:rPr lang="en-GB" sz="4400" dirty="0"/>
              <a:t> Venkat </a:t>
            </a:r>
            <a:r>
              <a:rPr lang="en-GB" sz="4400" dirty="0" err="1"/>
              <a:t>Shyam</a:t>
            </a:r>
            <a:r>
              <a:rPr lang="en-GB" sz="4400" dirty="0"/>
              <a:t> </a:t>
            </a:r>
            <a:r>
              <a:rPr lang="en-GB" sz="4400" dirty="0" err="1"/>
              <a:t>Damagatla</a:t>
            </a:r>
            <a:endParaRPr lang="en-GB" sz="4400" dirty="0"/>
          </a:p>
          <a:p>
            <a:pPr algn="ctr"/>
            <a:br>
              <a:rPr lang="en-GB" sz="4400" dirty="0"/>
            </a:br>
            <a:r>
              <a:rPr lang="en-GB" sz="4400" b="1" dirty="0"/>
              <a:t>Date</a:t>
            </a:r>
            <a:r>
              <a:rPr lang="en-GB" sz="4400" b="1"/>
              <a:t>:</a:t>
            </a:r>
            <a:r>
              <a:rPr lang="en-GB" sz="4400"/>
              <a:t> June 15, </a:t>
            </a:r>
            <a:r>
              <a:rPr lang="en-GB" sz="4400" dirty="0"/>
              <a:t>2026</a:t>
            </a:r>
          </a:p>
        </p:txBody>
      </p:sp>
    </p:spTree>
    <p:extLst>
      <p:ext uri="{BB962C8B-B14F-4D97-AF65-F5344CB8AC3E}">
        <p14:creationId xmlns:p14="http://schemas.microsoft.com/office/powerpoint/2010/main" val="1188996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0A2D-B547-4293-910F-FCCD06DE5FD2}"/>
              </a:ext>
            </a:extLst>
          </p:cNvPr>
          <p:cNvSpPr>
            <a:spLocks noGrp="1"/>
          </p:cNvSpPr>
          <p:nvPr>
            <p:ph type="title"/>
          </p:nvPr>
        </p:nvSpPr>
        <p:spPr/>
        <p:txBody>
          <a:bodyPr/>
          <a:lstStyle/>
          <a:p>
            <a:pPr algn="ctr"/>
            <a:r>
              <a:rPr lang="en-GB" b="1" dirty="0">
                <a:latin typeface="+mn-lt"/>
              </a:rPr>
              <a:t>Introduction</a:t>
            </a:r>
          </a:p>
        </p:txBody>
      </p:sp>
      <p:sp>
        <p:nvSpPr>
          <p:cNvPr id="3" name="Content Placeholder 2">
            <a:extLst>
              <a:ext uri="{FF2B5EF4-FFF2-40B4-BE49-F238E27FC236}">
                <a16:creationId xmlns:a16="http://schemas.microsoft.com/office/drawing/2014/main" id="{B5057510-18A1-4870-B77D-EB71C08C1300}"/>
              </a:ext>
            </a:extLst>
          </p:cNvPr>
          <p:cNvSpPr>
            <a:spLocks noGrp="1"/>
          </p:cNvSpPr>
          <p:nvPr>
            <p:ph idx="1"/>
          </p:nvPr>
        </p:nvSpPr>
        <p:spPr/>
        <p:txBody>
          <a:bodyPr/>
          <a:lstStyle/>
          <a:p>
            <a:r>
              <a:rPr lang="en-GB" dirty="0"/>
              <a:t>Good day everyone. My project is the Smart Building Energy Optimization Assistant. </a:t>
            </a:r>
          </a:p>
          <a:p>
            <a:r>
              <a:rPr lang="en-GB" dirty="0"/>
              <a:t>The purpose of this system is to help facility managers reduce energy consumption while maintaining occupant comfort. </a:t>
            </a:r>
          </a:p>
          <a:p>
            <a:r>
              <a:rPr lang="en-GB" dirty="0"/>
              <a:t>The system uses building information, occupancy schedules, weather forecasts, and device data to make intelligent energy-management decisions. </a:t>
            </a:r>
          </a:p>
          <a:p>
            <a:r>
              <a:rPr lang="en-GB" dirty="0"/>
              <a:t>In this presentation, I will demonstrate the first three implemented use cases: Register Building Profile, Import Occupancy Schedule, and Forecast Zone Demand.</a:t>
            </a:r>
          </a:p>
        </p:txBody>
      </p:sp>
    </p:spTree>
    <p:extLst>
      <p:ext uri="{BB962C8B-B14F-4D97-AF65-F5344CB8AC3E}">
        <p14:creationId xmlns:p14="http://schemas.microsoft.com/office/powerpoint/2010/main" val="40191019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350C-EBCF-4B9A-B18E-D69457FCD0B7}"/>
              </a:ext>
            </a:extLst>
          </p:cNvPr>
          <p:cNvSpPr>
            <a:spLocks noGrp="1"/>
          </p:cNvSpPr>
          <p:nvPr>
            <p:ph type="title"/>
          </p:nvPr>
        </p:nvSpPr>
        <p:spPr>
          <a:xfrm>
            <a:off x="838200" y="365125"/>
            <a:ext cx="10515600" cy="473861"/>
          </a:xfrm>
        </p:spPr>
        <p:txBody>
          <a:bodyPr>
            <a:normAutofit fontScale="90000"/>
          </a:bodyPr>
          <a:lstStyle/>
          <a:p>
            <a:pPr algn="ctr"/>
            <a:r>
              <a:rPr lang="en-GB" b="1" dirty="0">
                <a:latin typeface="+mn-lt"/>
              </a:rPr>
              <a:t>Project Overview</a:t>
            </a:r>
          </a:p>
        </p:txBody>
      </p:sp>
      <p:sp>
        <p:nvSpPr>
          <p:cNvPr id="3" name="Content Placeholder 2">
            <a:extLst>
              <a:ext uri="{FF2B5EF4-FFF2-40B4-BE49-F238E27FC236}">
                <a16:creationId xmlns:a16="http://schemas.microsoft.com/office/drawing/2014/main" id="{2E0BC107-CC31-46E9-86FA-93C0849F9B6B}"/>
              </a:ext>
            </a:extLst>
          </p:cNvPr>
          <p:cNvSpPr>
            <a:spLocks noGrp="1"/>
          </p:cNvSpPr>
          <p:nvPr>
            <p:ph idx="1"/>
          </p:nvPr>
        </p:nvSpPr>
        <p:spPr>
          <a:xfrm>
            <a:off x="94268" y="942680"/>
            <a:ext cx="11981467" cy="5915320"/>
          </a:xfrm>
        </p:spPr>
        <p:txBody>
          <a:bodyPr>
            <a:normAutofit fontScale="77500" lnSpcReduction="20000"/>
          </a:bodyPr>
          <a:lstStyle/>
          <a:p>
            <a:pPr marL="0" indent="0">
              <a:buNone/>
            </a:pPr>
            <a:r>
              <a:rPr lang="en-GB" b="1" dirty="0"/>
              <a:t>Project Goal</a:t>
            </a:r>
          </a:p>
          <a:p>
            <a:r>
              <a:rPr lang="en-GB" dirty="0"/>
              <a:t>Develop an intelligent system that:</a:t>
            </a:r>
          </a:p>
          <a:p>
            <a:r>
              <a:rPr lang="en-GB" dirty="0"/>
              <a:t>Optimizes building energy usage</a:t>
            </a:r>
          </a:p>
          <a:p>
            <a:r>
              <a:rPr lang="en-GB" dirty="0"/>
              <a:t>Maintains occupant comfort</a:t>
            </a:r>
          </a:p>
          <a:p>
            <a:r>
              <a:rPr lang="en-GB" dirty="0"/>
              <a:t>Uses real-time and historical data</a:t>
            </a:r>
          </a:p>
          <a:p>
            <a:r>
              <a:rPr lang="en-GB" dirty="0"/>
              <a:t>Supports data-driven facility management</a:t>
            </a:r>
          </a:p>
          <a:p>
            <a:pPr marL="0" indent="0">
              <a:buNone/>
            </a:pPr>
            <a:r>
              <a:rPr lang="en-GB" b="1" dirty="0"/>
              <a:t>Key Inputs</a:t>
            </a:r>
          </a:p>
          <a:p>
            <a:r>
              <a:rPr lang="en-GB" dirty="0"/>
              <a:t>Building zones</a:t>
            </a:r>
          </a:p>
          <a:p>
            <a:r>
              <a:rPr lang="en-GB" dirty="0"/>
              <a:t>Occupancy schedules</a:t>
            </a:r>
          </a:p>
          <a:p>
            <a:r>
              <a:rPr lang="en-GB" dirty="0"/>
              <a:t>Weather forecasts</a:t>
            </a:r>
          </a:p>
          <a:p>
            <a:r>
              <a:rPr lang="en-GB" dirty="0"/>
              <a:t>Device status information</a:t>
            </a:r>
          </a:p>
          <a:p>
            <a:pPr marL="0" indent="0">
              <a:buNone/>
            </a:pPr>
            <a:endParaRPr lang="en-GB" dirty="0"/>
          </a:p>
          <a:p>
            <a:pPr marL="0" indent="0">
              <a:buNone/>
            </a:pPr>
            <a:r>
              <a:rPr lang="en-GB" dirty="0"/>
              <a:t>The Smart Building Energy Optimization Assistant is designed to balance energy efficiency and user comfort. The system collects information from multiple sources, including occupancy schedules, weather forecasts, and building devices. Using this information, it predicts future energy demand and recommends energy-saving actions. Today's demonstration focuses on the foundational functions that make future optimization possible.</a:t>
            </a:r>
          </a:p>
          <a:p>
            <a:endParaRPr lang="en-GB" dirty="0"/>
          </a:p>
        </p:txBody>
      </p:sp>
    </p:spTree>
    <p:extLst>
      <p:ext uri="{BB962C8B-B14F-4D97-AF65-F5344CB8AC3E}">
        <p14:creationId xmlns:p14="http://schemas.microsoft.com/office/powerpoint/2010/main" val="2594724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465AD-87B4-440A-9BF3-184DB616F0A1}"/>
              </a:ext>
            </a:extLst>
          </p:cNvPr>
          <p:cNvSpPr>
            <a:spLocks noGrp="1"/>
          </p:cNvSpPr>
          <p:nvPr>
            <p:ph type="title"/>
          </p:nvPr>
        </p:nvSpPr>
        <p:spPr>
          <a:xfrm>
            <a:off x="838200" y="365125"/>
            <a:ext cx="10515600" cy="643543"/>
          </a:xfrm>
        </p:spPr>
        <p:txBody>
          <a:bodyPr>
            <a:normAutofit fontScale="90000"/>
          </a:bodyPr>
          <a:lstStyle/>
          <a:p>
            <a:pPr algn="ctr"/>
            <a:r>
              <a:rPr lang="en-GB" b="1" dirty="0">
                <a:latin typeface="+mn-lt"/>
              </a:rPr>
              <a:t>System Architecture</a:t>
            </a:r>
          </a:p>
        </p:txBody>
      </p:sp>
      <p:sp>
        <p:nvSpPr>
          <p:cNvPr id="3" name="Content Placeholder 2">
            <a:extLst>
              <a:ext uri="{FF2B5EF4-FFF2-40B4-BE49-F238E27FC236}">
                <a16:creationId xmlns:a16="http://schemas.microsoft.com/office/drawing/2014/main" id="{CE7C1284-9169-4B53-9F19-5A53AC68E2E9}"/>
              </a:ext>
            </a:extLst>
          </p:cNvPr>
          <p:cNvSpPr>
            <a:spLocks noGrp="1"/>
          </p:cNvSpPr>
          <p:nvPr>
            <p:ph idx="1"/>
          </p:nvPr>
        </p:nvSpPr>
        <p:spPr>
          <a:xfrm>
            <a:off x="179109" y="1008668"/>
            <a:ext cx="11868347" cy="5722070"/>
          </a:xfrm>
        </p:spPr>
        <p:txBody>
          <a:bodyPr>
            <a:normAutofit fontScale="92500" lnSpcReduction="20000"/>
          </a:bodyPr>
          <a:lstStyle/>
          <a:p>
            <a:pPr marL="0" indent="0">
              <a:buNone/>
            </a:pPr>
            <a:r>
              <a:rPr lang="en-GB" b="1" dirty="0"/>
              <a:t>Main Components</a:t>
            </a:r>
          </a:p>
          <a:p>
            <a:r>
              <a:rPr lang="en-GB" dirty="0"/>
              <a:t>Facility Manager Interface</a:t>
            </a:r>
          </a:p>
          <a:p>
            <a:r>
              <a:rPr lang="en-GB" dirty="0"/>
              <a:t>Building Repository</a:t>
            </a:r>
          </a:p>
          <a:p>
            <a:r>
              <a:rPr lang="en-GB" dirty="0"/>
              <a:t>Occupancy Data Service</a:t>
            </a:r>
          </a:p>
          <a:p>
            <a:r>
              <a:rPr lang="en-GB" dirty="0"/>
              <a:t>Forecasting Service</a:t>
            </a:r>
          </a:p>
          <a:p>
            <a:r>
              <a:rPr lang="en-GB" dirty="0"/>
              <a:t>Database Storage</a:t>
            </a:r>
          </a:p>
          <a:p>
            <a:pPr marL="0" indent="0">
              <a:buNone/>
            </a:pPr>
            <a:r>
              <a:rPr lang="en-GB" b="1" dirty="0"/>
              <a:t>Workflow</a:t>
            </a:r>
          </a:p>
          <a:p>
            <a:r>
              <a:rPr lang="en-GB" dirty="0"/>
              <a:t>Building Profile → Occupancy Data → Forecast Engine → Energy Optimization</a:t>
            </a:r>
          </a:p>
          <a:p>
            <a:pPr marL="0" indent="0">
              <a:buNone/>
            </a:pPr>
            <a:endParaRPr lang="en-GB" dirty="0"/>
          </a:p>
          <a:p>
            <a:pPr marL="0" indent="0">
              <a:buNone/>
            </a:pPr>
            <a:r>
              <a:rPr lang="en-GB" dirty="0"/>
              <a:t>This slide illustrates the overall system architecture. Facility managers interact with the application through the user interface. Building information is stored in the repository. Occupancy schedules are imported through the occupancy service. The forecasting engine processes occupancy, weather, and device information to estimate future energy demand. These forecasts serve as the foundation for future optimization and recommendation modules.</a:t>
            </a:r>
          </a:p>
        </p:txBody>
      </p:sp>
    </p:spTree>
    <p:extLst>
      <p:ext uri="{BB962C8B-B14F-4D97-AF65-F5344CB8AC3E}">
        <p14:creationId xmlns:p14="http://schemas.microsoft.com/office/powerpoint/2010/main" val="182358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27D95-B042-46C4-8369-3E5A6A04B7E2}"/>
              </a:ext>
            </a:extLst>
          </p:cNvPr>
          <p:cNvSpPr>
            <a:spLocks noGrp="1"/>
          </p:cNvSpPr>
          <p:nvPr>
            <p:ph type="title"/>
          </p:nvPr>
        </p:nvSpPr>
        <p:spPr>
          <a:xfrm>
            <a:off x="838200" y="365126"/>
            <a:ext cx="10515600" cy="539848"/>
          </a:xfrm>
        </p:spPr>
        <p:txBody>
          <a:bodyPr>
            <a:normAutofit fontScale="90000"/>
          </a:bodyPr>
          <a:lstStyle/>
          <a:p>
            <a:pPr algn="ctr"/>
            <a:r>
              <a:rPr lang="en-GB" b="1" dirty="0">
                <a:latin typeface="+mn-lt"/>
              </a:rPr>
              <a:t>Use Case 1 – Register Building</a:t>
            </a:r>
          </a:p>
        </p:txBody>
      </p:sp>
      <p:sp>
        <p:nvSpPr>
          <p:cNvPr id="3" name="Content Placeholder 2">
            <a:extLst>
              <a:ext uri="{FF2B5EF4-FFF2-40B4-BE49-F238E27FC236}">
                <a16:creationId xmlns:a16="http://schemas.microsoft.com/office/drawing/2014/main" id="{A5DE6B92-5D87-449D-A3B7-32F80639C072}"/>
              </a:ext>
            </a:extLst>
          </p:cNvPr>
          <p:cNvSpPr>
            <a:spLocks noGrp="1"/>
          </p:cNvSpPr>
          <p:nvPr>
            <p:ph idx="1"/>
          </p:nvPr>
        </p:nvSpPr>
        <p:spPr>
          <a:xfrm>
            <a:off x="188536" y="904974"/>
            <a:ext cx="11868346" cy="5844618"/>
          </a:xfrm>
        </p:spPr>
        <p:txBody>
          <a:bodyPr>
            <a:normAutofit fontScale="85000" lnSpcReduction="20000"/>
          </a:bodyPr>
          <a:lstStyle/>
          <a:p>
            <a:pPr marL="0" indent="0">
              <a:buNone/>
            </a:pPr>
            <a:r>
              <a:rPr lang="en-GB" b="1" dirty="0"/>
              <a:t>Objective</a:t>
            </a:r>
          </a:p>
          <a:p>
            <a:r>
              <a:rPr lang="en-GB" dirty="0"/>
              <a:t>Create and store a building model.</a:t>
            </a:r>
          </a:p>
          <a:p>
            <a:pPr marL="0" indent="0">
              <a:buNone/>
            </a:pPr>
            <a:r>
              <a:rPr lang="en-GB" b="1" dirty="0"/>
              <a:t>User Inputs</a:t>
            </a:r>
          </a:p>
          <a:p>
            <a:r>
              <a:rPr lang="en-GB" dirty="0"/>
              <a:t>Building name</a:t>
            </a:r>
          </a:p>
          <a:p>
            <a:r>
              <a:rPr lang="en-GB" dirty="0"/>
              <a:t>Building zones</a:t>
            </a:r>
          </a:p>
          <a:p>
            <a:r>
              <a:rPr lang="en-GB" dirty="0"/>
              <a:t>HVAC devices</a:t>
            </a:r>
          </a:p>
          <a:p>
            <a:r>
              <a:rPr lang="en-GB" dirty="0"/>
              <a:t>Sensors</a:t>
            </a:r>
          </a:p>
          <a:p>
            <a:r>
              <a:rPr lang="en-GB" dirty="0"/>
              <a:t>Operating schedules</a:t>
            </a:r>
          </a:p>
          <a:p>
            <a:pPr marL="0" indent="0">
              <a:buNone/>
            </a:pPr>
            <a:r>
              <a:rPr lang="en-GB" b="1" dirty="0"/>
              <a:t>Expected Result</a:t>
            </a:r>
          </a:p>
          <a:p>
            <a:r>
              <a:rPr lang="en-GB" dirty="0"/>
              <a:t>Validated building profile stored successfully.</a:t>
            </a:r>
          </a:p>
          <a:p>
            <a:pPr marL="0" indent="0">
              <a:buNone/>
            </a:pPr>
            <a:endParaRPr lang="en-GB" dirty="0"/>
          </a:p>
          <a:p>
            <a:pPr marL="0" indent="0">
              <a:buNone/>
            </a:pPr>
            <a:r>
              <a:rPr lang="en-GB" dirty="0"/>
              <a:t>The first use case allows the Facility Manager to register a building profile. The manager enters details such as building zones, HVAC equipment, sensors, and operating schedules. The system validates the information and stores it in the database. This use case establishes the foundation for all future forecasting and optimization activities because the system must understand the structure of the building before it can make intelligent recommendations.</a:t>
            </a:r>
          </a:p>
        </p:txBody>
      </p:sp>
    </p:spTree>
    <p:extLst>
      <p:ext uri="{BB962C8B-B14F-4D97-AF65-F5344CB8AC3E}">
        <p14:creationId xmlns:p14="http://schemas.microsoft.com/office/powerpoint/2010/main" val="3391042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DA3D0-F29E-45B5-843C-CF6D2C4A62D8}"/>
              </a:ext>
            </a:extLst>
          </p:cNvPr>
          <p:cNvSpPr>
            <a:spLocks noGrp="1"/>
          </p:cNvSpPr>
          <p:nvPr>
            <p:ph type="title"/>
          </p:nvPr>
        </p:nvSpPr>
        <p:spPr>
          <a:xfrm>
            <a:off x="838200" y="365126"/>
            <a:ext cx="10515600" cy="605836"/>
          </a:xfrm>
        </p:spPr>
        <p:txBody>
          <a:bodyPr>
            <a:normAutofit fontScale="90000"/>
          </a:bodyPr>
          <a:lstStyle/>
          <a:p>
            <a:pPr algn="ctr"/>
            <a:r>
              <a:rPr lang="en-GB" b="1" dirty="0">
                <a:latin typeface="+mn-lt"/>
              </a:rPr>
              <a:t>Demonstration – Register Building Profile</a:t>
            </a:r>
          </a:p>
        </p:txBody>
      </p:sp>
      <p:sp>
        <p:nvSpPr>
          <p:cNvPr id="3" name="Content Placeholder 2">
            <a:extLst>
              <a:ext uri="{FF2B5EF4-FFF2-40B4-BE49-F238E27FC236}">
                <a16:creationId xmlns:a16="http://schemas.microsoft.com/office/drawing/2014/main" id="{4EC911FD-E47E-4E5E-8FFB-6DFF3AC27280}"/>
              </a:ext>
            </a:extLst>
          </p:cNvPr>
          <p:cNvSpPr>
            <a:spLocks noGrp="1"/>
          </p:cNvSpPr>
          <p:nvPr>
            <p:ph idx="1"/>
          </p:nvPr>
        </p:nvSpPr>
        <p:spPr>
          <a:xfrm>
            <a:off x="141402" y="970962"/>
            <a:ext cx="11962614" cy="5731496"/>
          </a:xfrm>
        </p:spPr>
        <p:txBody>
          <a:bodyPr>
            <a:normAutofit fontScale="85000" lnSpcReduction="20000"/>
          </a:bodyPr>
          <a:lstStyle/>
          <a:p>
            <a:pPr marL="0" indent="0">
              <a:buNone/>
            </a:pPr>
            <a:r>
              <a:rPr lang="en-GB" b="1" dirty="0"/>
              <a:t>Demo Steps</a:t>
            </a:r>
          </a:p>
          <a:p>
            <a:r>
              <a:rPr lang="en-GB" dirty="0"/>
              <a:t>Login as Facility Manager</a:t>
            </a:r>
          </a:p>
          <a:p>
            <a:r>
              <a:rPr lang="en-GB" dirty="0"/>
              <a:t>Open Building Profile page</a:t>
            </a:r>
          </a:p>
          <a:p>
            <a:r>
              <a:rPr lang="en-GB" dirty="0"/>
              <a:t>Enter building information</a:t>
            </a:r>
          </a:p>
          <a:p>
            <a:r>
              <a:rPr lang="en-GB" dirty="0"/>
              <a:t>Add zones and devices</a:t>
            </a:r>
          </a:p>
          <a:p>
            <a:r>
              <a:rPr lang="en-GB" dirty="0"/>
              <a:t>Click Save</a:t>
            </a:r>
          </a:p>
          <a:p>
            <a:r>
              <a:rPr lang="en-GB" dirty="0"/>
              <a:t>View confirmation message</a:t>
            </a:r>
          </a:p>
          <a:p>
            <a:pPr marL="0" indent="0">
              <a:buNone/>
            </a:pPr>
            <a:r>
              <a:rPr lang="en-GB" b="1" dirty="0"/>
              <a:t>Sample Data</a:t>
            </a:r>
          </a:p>
          <a:p>
            <a:r>
              <a:rPr lang="en-GB" dirty="0"/>
              <a:t>Building: Main Office</a:t>
            </a:r>
          </a:p>
          <a:p>
            <a:r>
              <a:rPr lang="en-GB" dirty="0"/>
              <a:t>Zones: Lobby, Conference Room, Office Area</a:t>
            </a:r>
          </a:p>
          <a:p>
            <a:r>
              <a:rPr lang="en-GB" dirty="0"/>
              <a:t>Devices: HVAC Unit A, Smart Sensors</a:t>
            </a:r>
          </a:p>
          <a:p>
            <a:pPr marL="0" indent="0">
              <a:buNone/>
            </a:pPr>
            <a:endParaRPr lang="en-GB" b="1" dirty="0"/>
          </a:p>
          <a:p>
            <a:pPr marL="0" indent="0">
              <a:buNone/>
            </a:pPr>
            <a:r>
              <a:rPr lang="en-GB" dirty="0"/>
              <a:t>During the demonstration, I will log into the application as a Facility Manager. I will open the Building Profile page and enter sample building information. After adding the building zones and connected devices, I will save the profile. The system validates the information and displays a confirmation message indicating successful registration.</a:t>
            </a:r>
          </a:p>
        </p:txBody>
      </p:sp>
    </p:spTree>
    <p:extLst>
      <p:ext uri="{BB962C8B-B14F-4D97-AF65-F5344CB8AC3E}">
        <p14:creationId xmlns:p14="http://schemas.microsoft.com/office/powerpoint/2010/main" val="1470496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A4A68-10A8-4579-9E78-D096BE7BC487}"/>
              </a:ext>
            </a:extLst>
          </p:cNvPr>
          <p:cNvSpPr>
            <a:spLocks noGrp="1"/>
          </p:cNvSpPr>
          <p:nvPr>
            <p:ph type="title"/>
          </p:nvPr>
        </p:nvSpPr>
        <p:spPr>
          <a:xfrm>
            <a:off x="838200" y="365126"/>
            <a:ext cx="10515600" cy="841506"/>
          </a:xfrm>
        </p:spPr>
        <p:txBody>
          <a:bodyPr/>
          <a:lstStyle/>
          <a:p>
            <a:pPr algn="ctr"/>
            <a:r>
              <a:rPr lang="en-GB" b="1" dirty="0">
                <a:latin typeface="+mn-lt"/>
              </a:rPr>
              <a:t>Use Case 2 – Import Occupancy Schedule</a:t>
            </a:r>
          </a:p>
        </p:txBody>
      </p:sp>
      <p:sp>
        <p:nvSpPr>
          <p:cNvPr id="3" name="Content Placeholder 2">
            <a:extLst>
              <a:ext uri="{FF2B5EF4-FFF2-40B4-BE49-F238E27FC236}">
                <a16:creationId xmlns:a16="http://schemas.microsoft.com/office/drawing/2014/main" id="{748441ED-169E-4F63-BB3E-8E050E8BD2D7}"/>
              </a:ext>
            </a:extLst>
          </p:cNvPr>
          <p:cNvSpPr>
            <a:spLocks noGrp="1"/>
          </p:cNvSpPr>
          <p:nvPr>
            <p:ph idx="1"/>
          </p:nvPr>
        </p:nvSpPr>
        <p:spPr>
          <a:xfrm>
            <a:off x="179109" y="1065228"/>
            <a:ext cx="11906053" cy="5792772"/>
          </a:xfrm>
        </p:spPr>
        <p:txBody>
          <a:bodyPr>
            <a:normAutofit fontScale="92500" lnSpcReduction="20000"/>
          </a:bodyPr>
          <a:lstStyle/>
          <a:p>
            <a:pPr marL="0" indent="0">
              <a:buNone/>
            </a:pPr>
            <a:r>
              <a:rPr lang="en-GB" b="1" dirty="0"/>
              <a:t>Objective</a:t>
            </a:r>
          </a:p>
          <a:p>
            <a:r>
              <a:rPr lang="en-GB" dirty="0"/>
              <a:t>Import occupancy data and associate it with building zones.</a:t>
            </a:r>
          </a:p>
          <a:p>
            <a:pPr marL="0" indent="0">
              <a:buNone/>
            </a:pPr>
            <a:r>
              <a:rPr lang="en-GB" b="1" dirty="0"/>
              <a:t>Inputs</a:t>
            </a:r>
          </a:p>
          <a:p>
            <a:r>
              <a:rPr lang="en-GB" dirty="0"/>
              <a:t>CSV or Excel schedule file</a:t>
            </a:r>
          </a:p>
          <a:p>
            <a:r>
              <a:rPr lang="en-GB" dirty="0"/>
              <a:t>Occupancy counts</a:t>
            </a:r>
          </a:p>
          <a:p>
            <a:r>
              <a:rPr lang="en-GB" dirty="0"/>
              <a:t>Time schedules</a:t>
            </a:r>
          </a:p>
          <a:p>
            <a:r>
              <a:rPr lang="en-GB" dirty="0"/>
              <a:t>Zone assignments</a:t>
            </a:r>
          </a:p>
          <a:p>
            <a:pPr marL="0" indent="0">
              <a:buNone/>
            </a:pPr>
            <a:r>
              <a:rPr lang="en-GB" b="1" dirty="0"/>
              <a:t>Expected Result</a:t>
            </a:r>
          </a:p>
          <a:p>
            <a:r>
              <a:rPr lang="en-GB" dirty="0"/>
              <a:t>Occupancy schedule stored successfully.</a:t>
            </a:r>
          </a:p>
          <a:p>
            <a:pPr marL="0" indent="0">
              <a:buNone/>
            </a:pPr>
            <a:endParaRPr lang="en-GB" dirty="0"/>
          </a:p>
          <a:p>
            <a:pPr marL="0" indent="0">
              <a:buNone/>
            </a:pPr>
            <a:r>
              <a:rPr lang="en-GB" dirty="0"/>
              <a:t>The second use case focuses on occupancy schedule management. Occupancy information is one of the most important factors affecting energy usage. Facility managers can upload schedules that indicate how many occupants are expected in different zones throughout the day. The system parses the uploaded file, validates the data, and associates the occupancy information with the correct building zones.</a:t>
            </a:r>
          </a:p>
          <a:p>
            <a:endParaRPr lang="en-GB" dirty="0"/>
          </a:p>
        </p:txBody>
      </p:sp>
    </p:spTree>
    <p:extLst>
      <p:ext uri="{BB962C8B-B14F-4D97-AF65-F5344CB8AC3E}">
        <p14:creationId xmlns:p14="http://schemas.microsoft.com/office/powerpoint/2010/main" val="1383298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80896-987E-477F-B2F5-8058CDE12C6A}"/>
              </a:ext>
            </a:extLst>
          </p:cNvPr>
          <p:cNvSpPr>
            <a:spLocks noGrp="1"/>
          </p:cNvSpPr>
          <p:nvPr>
            <p:ph type="title"/>
          </p:nvPr>
        </p:nvSpPr>
        <p:spPr>
          <a:xfrm>
            <a:off x="838200" y="365125"/>
            <a:ext cx="10515600" cy="766091"/>
          </a:xfrm>
        </p:spPr>
        <p:txBody>
          <a:bodyPr>
            <a:normAutofit fontScale="90000"/>
          </a:bodyPr>
          <a:lstStyle/>
          <a:p>
            <a:pPr algn="ctr"/>
            <a:r>
              <a:rPr lang="en-GB" b="1" dirty="0">
                <a:latin typeface="+mn-lt"/>
              </a:rPr>
              <a:t>Demonstration – Import Occupancy Schedule</a:t>
            </a:r>
          </a:p>
        </p:txBody>
      </p:sp>
      <p:sp>
        <p:nvSpPr>
          <p:cNvPr id="3" name="Content Placeholder 2">
            <a:extLst>
              <a:ext uri="{FF2B5EF4-FFF2-40B4-BE49-F238E27FC236}">
                <a16:creationId xmlns:a16="http://schemas.microsoft.com/office/drawing/2014/main" id="{0DFA445D-BD48-45B1-91F3-7038BD339FBD}"/>
              </a:ext>
            </a:extLst>
          </p:cNvPr>
          <p:cNvSpPr>
            <a:spLocks noGrp="1"/>
          </p:cNvSpPr>
          <p:nvPr>
            <p:ph idx="1"/>
          </p:nvPr>
        </p:nvSpPr>
        <p:spPr>
          <a:xfrm>
            <a:off x="838200" y="1131216"/>
            <a:ext cx="10515600" cy="5045747"/>
          </a:xfrm>
        </p:spPr>
        <p:txBody>
          <a:bodyPr>
            <a:normAutofit fontScale="92500" lnSpcReduction="20000"/>
          </a:bodyPr>
          <a:lstStyle/>
          <a:p>
            <a:pPr marL="0" indent="0">
              <a:buNone/>
            </a:pPr>
            <a:r>
              <a:rPr lang="en-GB" b="1" dirty="0"/>
              <a:t>Demo Steps</a:t>
            </a:r>
          </a:p>
          <a:p>
            <a:r>
              <a:rPr lang="en-GB" dirty="0"/>
              <a:t>Open Occupancy Schedule Module</a:t>
            </a:r>
          </a:p>
          <a:p>
            <a:r>
              <a:rPr lang="en-GB" dirty="0"/>
              <a:t>Upload CSV File</a:t>
            </a:r>
          </a:p>
          <a:p>
            <a:r>
              <a:rPr lang="en-GB" dirty="0"/>
              <a:t>Validate Schedule</a:t>
            </a:r>
          </a:p>
          <a:p>
            <a:r>
              <a:rPr lang="en-GB" dirty="0"/>
              <a:t>Link Schedule to Zones</a:t>
            </a:r>
          </a:p>
          <a:p>
            <a:r>
              <a:rPr lang="en-GB" dirty="0"/>
              <a:t>Store Data</a:t>
            </a:r>
          </a:p>
          <a:p>
            <a:r>
              <a:rPr lang="en-GB" dirty="0"/>
              <a:t>Display Success Message</a:t>
            </a:r>
          </a:p>
          <a:p>
            <a:pPr marL="0" indent="0">
              <a:buNone/>
            </a:pPr>
            <a:endParaRPr lang="en-GB" dirty="0"/>
          </a:p>
          <a:p>
            <a:pPr marL="0" indent="0">
              <a:buNone/>
            </a:pPr>
            <a:r>
              <a:rPr lang="en-GB" dirty="0"/>
              <a:t>For this demonstration, I will upload a sample occupancy schedule file. The system parses the uploaded data and validates the format. Once validation is complete, the occupancy records are linked to their corresponding zones. The imported information is then stored in the database and becomes available for forecasting future energy demand.</a:t>
            </a:r>
            <a:endParaRPr lang="en-GB" b="1" dirty="0"/>
          </a:p>
          <a:p>
            <a:endParaRPr lang="en-GB" dirty="0"/>
          </a:p>
        </p:txBody>
      </p:sp>
      <p:graphicFrame>
        <p:nvGraphicFramePr>
          <p:cNvPr id="4" name="Table 3">
            <a:extLst>
              <a:ext uri="{FF2B5EF4-FFF2-40B4-BE49-F238E27FC236}">
                <a16:creationId xmlns:a16="http://schemas.microsoft.com/office/drawing/2014/main" id="{23F5E891-FCF8-4EC2-B29B-9C1E14E318C7}"/>
              </a:ext>
            </a:extLst>
          </p:cNvPr>
          <p:cNvGraphicFramePr>
            <a:graphicFrameLocks noGrp="1"/>
          </p:cNvGraphicFramePr>
          <p:nvPr>
            <p:extLst>
              <p:ext uri="{D42A27DB-BD31-4B8C-83A1-F6EECF244321}">
                <p14:modId xmlns:p14="http://schemas.microsoft.com/office/powerpoint/2010/main" val="4094368289"/>
              </p:ext>
            </p:extLst>
          </p:nvPr>
        </p:nvGraphicFramePr>
        <p:xfrm>
          <a:off x="6259398" y="2318994"/>
          <a:ext cx="4769964" cy="1545996"/>
        </p:xfrm>
        <a:graphic>
          <a:graphicData uri="http://schemas.openxmlformats.org/drawingml/2006/table">
            <a:tbl>
              <a:tblPr firstRow="1" firstCol="1" bandRow="1">
                <a:tableStyleId>{5C22544A-7EE6-4342-B048-85BDC9FD1C3A}</a:tableStyleId>
              </a:tblPr>
              <a:tblGrid>
                <a:gridCol w="1589988">
                  <a:extLst>
                    <a:ext uri="{9D8B030D-6E8A-4147-A177-3AD203B41FA5}">
                      <a16:colId xmlns:a16="http://schemas.microsoft.com/office/drawing/2014/main" val="1955649550"/>
                    </a:ext>
                  </a:extLst>
                </a:gridCol>
                <a:gridCol w="1589988">
                  <a:extLst>
                    <a:ext uri="{9D8B030D-6E8A-4147-A177-3AD203B41FA5}">
                      <a16:colId xmlns:a16="http://schemas.microsoft.com/office/drawing/2014/main" val="4118285916"/>
                    </a:ext>
                  </a:extLst>
                </a:gridCol>
                <a:gridCol w="1589988">
                  <a:extLst>
                    <a:ext uri="{9D8B030D-6E8A-4147-A177-3AD203B41FA5}">
                      <a16:colId xmlns:a16="http://schemas.microsoft.com/office/drawing/2014/main" val="1960464925"/>
                    </a:ext>
                  </a:extLst>
                </a:gridCol>
              </a:tblGrid>
              <a:tr h="386499">
                <a:tc>
                  <a:txBody>
                    <a:bodyPr/>
                    <a:lstStyle/>
                    <a:p>
                      <a:pPr>
                        <a:lnSpc>
                          <a:spcPct val="107000"/>
                        </a:lnSpc>
                        <a:spcAft>
                          <a:spcPts val="0"/>
                        </a:spcAft>
                      </a:pPr>
                      <a:r>
                        <a:rPr lang="en-GB" sz="1100">
                          <a:effectLst/>
                        </a:rPr>
                        <a:t>Zone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Time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Occupancy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123954"/>
                  </a:ext>
                </a:extLst>
              </a:tr>
              <a:tr h="386499">
                <a:tc>
                  <a:txBody>
                    <a:bodyPr/>
                    <a:lstStyle/>
                    <a:p>
                      <a:pPr>
                        <a:lnSpc>
                          <a:spcPct val="107000"/>
                        </a:lnSpc>
                        <a:spcAft>
                          <a:spcPts val="0"/>
                        </a:spcAft>
                      </a:pPr>
                      <a:r>
                        <a:rPr lang="en-GB" sz="1100">
                          <a:effectLst/>
                        </a:rPr>
                        <a:t>Lobby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8AM-5PM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50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1801644"/>
                  </a:ext>
                </a:extLst>
              </a:tr>
              <a:tr h="386499">
                <a:tc>
                  <a:txBody>
                    <a:bodyPr/>
                    <a:lstStyle/>
                    <a:p>
                      <a:pPr>
                        <a:lnSpc>
                          <a:spcPct val="107000"/>
                        </a:lnSpc>
                        <a:spcAft>
                          <a:spcPts val="0"/>
                        </a:spcAft>
                      </a:pPr>
                      <a:r>
                        <a:rPr lang="en-GB" sz="1100">
                          <a:effectLst/>
                        </a:rPr>
                        <a:t>Conference Room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10AM-12PM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20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2955795"/>
                  </a:ext>
                </a:extLst>
              </a:tr>
              <a:tr h="386499">
                <a:tc>
                  <a:txBody>
                    <a:bodyPr/>
                    <a:lstStyle/>
                    <a:p>
                      <a:pPr>
                        <a:lnSpc>
                          <a:spcPct val="107000"/>
                        </a:lnSpc>
                        <a:spcAft>
                          <a:spcPts val="0"/>
                        </a:spcAft>
                      </a:pPr>
                      <a:r>
                        <a:rPr lang="en-GB" sz="1100">
                          <a:effectLst/>
                        </a:rPr>
                        <a:t>Office Area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8AM-6PM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dirty="0">
                          <a:effectLst/>
                        </a:rPr>
                        <a:t>75</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7554332"/>
                  </a:ext>
                </a:extLst>
              </a:tr>
            </a:tbl>
          </a:graphicData>
        </a:graphic>
      </p:graphicFrame>
    </p:spTree>
    <p:extLst>
      <p:ext uri="{BB962C8B-B14F-4D97-AF65-F5344CB8AC3E}">
        <p14:creationId xmlns:p14="http://schemas.microsoft.com/office/powerpoint/2010/main" val="273894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A41A1-369D-4B89-AD36-349B79D1C1A2}"/>
              </a:ext>
            </a:extLst>
          </p:cNvPr>
          <p:cNvSpPr>
            <a:spLocks noGrp="1"/>
          </p:cNvSpPr>
          <p:nvPr>
            <p:ph type="title"/>
          </p:nvPr>
        </p:nvSpPr>
        <p:spPr>
          <a:xfrm>
            <a:off x="838200" y="365125"/>
            <a:ext cx="10515600" cy="615263"/>
          </a:xfrm>
        </p:spPr>
        <p:txBody>
          <a:bodyPr>
            <a:normAutofit fontScale="90000"/>
          </a:bodyPr>
          <a:lstStyle/>
          <a:p>
            <a:pPr algn="ctr"/>
            <a:r>
              <a:rPr lang="en-GB" b="1" dirty="0">
                <a:latin typeface="+mn-lt"/>
              </a:rPr>
              <a:t>Use Case 3 – Forecast Zone Demand</a:t>
            </a:r>
          </a:p>
        </p:txBody>
      </p:sp>
      <p:sp>
        <p:nvSpPr>
          <p:cNvPr id="3" name="Content Placeholder 2">
            <a:extLst>
              <a:ext uri="{FF2B5EF4-FFF2-40B4-BE49-F238E27FC236}">
                <a16:creationId xmlns:a16="http://schemas.microsoft.com/office/drawing/2014/main" id="{E2F4B40B-CC67-4A42-BC50-839E5ED085D2}"/>
              </a:ext>
            </a:extLst>
          </p:cNvPr>
          <p:cNvSpPr>
            <a:spLocks noGrp="1"/>
          </p:cNvSpPr>
          <p:nvPr>
            <p:ph idx="1"/>
          </p:nvPr>
        </p:nvSpPr>
        <p:spPr>
          <a:xfrm>
            <a:off x="197963" y="980388"/>
            <a:ext cx="11849493" cy="5788057"/>
          </a:xfrm>
        </p:spPr>
        <p:txBody>
          <a:bodyPr>
            <a:normAutofit fontScale="92500" lnSpcReduction="10000"/>
          </a:bodyPr>
          <a:lstStyle/>
          <a:p>
            <a:pPr marL="0" indent="0">
              <a:buNone/>
            </a:pPr>
            <a:r>
              <a:rPr lang="en-GB" b="1" dirty="0"/>
              <a:t>Objective</a:t>
            </a:r>
          </a:p>
          <a:p>
            <a:r>
              <a:rPr lang="en-GB" dirty="0"/>
              <a:t>Predict future energy demand for each building zone.</a:t>
            </a:r>
          </a:p>
          <a:p>
            <a:pPr marL="0" indent="0">
              <a:buNone/>
            </a:pPr>
            <a:r>
              <a:rPr lang="en-GB" b="1" dirty="0"/>
              <a:t>Data Sources</a:t>
            </a:r>
          </a:p>
          <a:p>
            <a:r>
              <a:rPr lang="en-GB" dirty="0"/>
              <a:t>Occupancy schedules</a:t>
            </a:r>
          </a:p>
          <a:p>
            <a:r>
              <a:rPr lang="en-GB" dirty="0"/>
              <a:t>Weather forecasts</a:t>
            </a:r>
          </a:p>
          <a:p>
            <a:r>
              <a:rPr lang="en-GB" dirty="0"/>
              <a:t>Device status data</a:t>
            </a:r>
          </a:p>
          <a:p>
            <a:pPr marL="0" indent="0">
              <a:buNone/>
            </a:pPr>
            <a:r>
              <a:rPr lang="en-GB" b="1" dirty="0"/>
              <a:t>Output</a:t>
            </a:r>
          </a:p>
          <a:p>
            <a:r>
              <a:rPr lang="en-GB" dirty="0"/>
              <a:t>Forecasted energy consumption by zone.</a:t>
            </a:r>
          </a:p>
          <a:p>
            <a:pPr marL="0" indent="0">
              <a:buNone/>
            </a:pPr>
            <a:endParaRPr lang="en-GB" dirty="0"/>
          </a:p>
          <a:p>
            <a:pPr marL="0" indent="0">
              <a:buNone/>
            </a:pPr>
            <a:r>
              <a:rPr lang="en-GB" dirty="0"/>
              <a:t>The third use case uses the information collected from the previous use cases. The forecasting service </a:t>
            </a:r>
            <a:r>
              <a:rPr lang="en-GB" dirty="0" err="1"/>
              <a:t>analyzes</a:t>
            </a:r>
            <a:r>
              <a:rPr lang="en-GB" dirty="0"/>
              <a:t> occupancy levels, weather conditions, and device status to estimate future energy demand. This allows facility managers to anticipate energy requirements and prepare optimization strategies before energy consumption occurs.</a:t>
            </a:r>
          </a:p>
        </p:txBody>
      </p:sp>
    </p:spTree>
    <p:extLst>
      <p:ext uri="{BB962C8B-B14F-4D97-AF65-F5344CB8AC3E}">
        <p14:creationId xmlns:p14="http://schemas.microsoft.com/office/powerpoint/2010/main" val="2801402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3ED4B-1E07-4AD8-BE84-ED75AE0BB508}"/>
              </a:ext>
            </a:extLst>
          </p:cNvPr>
          <p:cNvSpPr>
            <a:spLocks noGrp="1"/>
          </p:cNvSpPr>
          <p:nvPr>
            <p:ph type="title"/>
          </p:nvPr>
        </p:nvSpPr>
        <p:spPr>
          <a:xfrm>
            <a:off x="838200" y="365125"/>
            <a:ext cx="10515600" cy="549275"/>
          </a:xfrm>
        </p:spPr>
        <p:txBody>
          <a:bodyPr>
            <a:normAutofit fontScale="90000"/>
          </a:bodyPr>
          <a:lstStyle/>
          <a:p>
            <a:pPr algn="ctr"/>
            <a:r>
              <a:rPr lang="en-GB" b="1" dirty="0">
                <a:latin typeface="+mn-lt"/>
              </a:rPr>
              <a:t>Demonstration – Forecast Zone Demand</a:t>
            </a:r>
          </a:p>
        </p:txBody>
      </p:sp>
      <p:sp>
        <p:nvSpPr>
          <p:cNvPr id="3" name="Content Placeholder 2">
            <a:extLst>
              <a:ext uri="{FF2B5EF4-FFF2-40B4-BE49-F238E27FC236}">
                <a16:creationId xmlns:a16="http://schemas.microsoft.com/office/drawing/2014/main" id="{854F0055-7948-4853-8FD7-C00C557CE60F}"/>
              </a:ext>
            </a:extLst>
          </p:cNvPr>
          <p:cNvSpPr>
            <a:spLocks noGrp="1"/>
          </p:cNvSpPr>
          <p:nvPr>
            <p:ph idx="1"/>
          </p:nvPr>
        </p:nvSpPr>
        <p:spPr>
          <a:xfrm>
            <a:off x="245097" y="1036948"/>
            <a:ext cx="11594969" cy="5693790"/>
          </a:xfrm>
        </p:spPr>
        <p:txBody>
          <a:bodyPr>
            <a:normAutofit fontScale="92500" lnSpcReduction="10000"/>
          </a:bodyPr>
          <a:lstStyle/>
          <a:p>
            <a:pPr marL="0" indent="0">
              <a:buNone/>
            </a:pPr>
            <a:r>
              <a:rPr lang="en-GB" b="1" dirty="0"/>
              <a:t>Demo Steps</a:t>
            </a:r>
          </a:p>
          <a:p>
            <a:r>
              <a:rPr lang="en-GB" dirty="0"/>
              <a:t>Open Forecast Dashboard</a:t>
            </a:r>
          </a:p>
          <a:p>
            <a:r>
              <a:rPr lang="en-GB" dirty="0"/>
              <a:t>Load Occupancy Data</a:t>
            </a:r>
          </a:p>
          <a:p>
            <a:r>
              <a:rPr lang="en-GB" dirty="0"/>
              <a:t>Load Weather Data</a:t>
            </a:r>
          </a:p>
          <a:p>
            <a:r>
              <a:rPr lang="en-GB" dirty="0"/>
              <a:t>Run Forecast Engine</a:t>
            </a:r>
          </a:p>
          <a:p>
            <a:r>
              <a:rPr lang="en-GB" dirty="0"/>
              <a:t>Generate Zone Predictions</a:t>
            </a:r>
          </a:p>
          <a:p>
            <a:r>
              <a:rPr lang="en-GB" dirty="0"/>
              <a:t>Display Results</a:t>
            </a:r>
          </a:p>
          <a:p>
            <a:endParaRPr lang="en-GB" dirty="0"/>
          </a:p>
          <a:p>
            <a:pPr marL="0" indent="0">
              <a:buNone/>
            </a:pPr>
            <a:r>
              <a:rPr lang="en-GB" dirty="0"/>
              <a:t>In this demonstration, I will execute the forecasting process. The system retrieves occupancy schedules, weather forecasts, and device information. The forecasting engine processes these inputs and generates estimated energy demand values for each zone. The resulting predictions are displayed on the dashboard and stored for future optimization activities.</a:t>
            </a:r>
          </a:p>
          <a:p>
            <a:endParaRPr lang="en-GB" dirty="0"/>
          </a:p>
          <a:p>
            <a:endParaRPr lang="en-GB" dirty="0"/>
          </a:p>
        </p:txBody>
      </p:sp>
      <p:graphicFrame>
        <p:nvGraphicFramePr>
          <p:cNvPr id="4" name="Table 3">
            <a:extLst>
              <a:ext uri="{FF2B5EF4-FFF2-40B4-BE49-F238E27FC236}">
                <a16:creationId xmlns:a16="http://schemas.microsoft.com/office/drawing/2014/main" id="{173CE6D2-C55C-48CF-91E7-5C7921A781AE}"/>
              </a:ext>
            </a:extLst>
          </p:cNvPr>
          <p:cNvGraphicFramePr>
            <a:graphicFrameLocks noGrp="1"/>
          </p:cNvGraphicFramePr>
          <p:nvPr>
            <p:extLst>
              <p:ext uri="{D42A27DB-BD31-4B8C-83A1-F6EECF244321}">
                <p14:modId xmlns:p14="http://schemas.microsoft.com/office/powerpoint/2010/main" val="2629922346"/>
              </p:ext>
            </p:extLst>
          </p:nvPr>
        </p:nvGraphicFramePr>
        <p:xfrm>
          <a:off x="5279010" y="1866507"/>
          <a:ext cx="6074790" cy="1442304"/>
        </p:xfrm>
        <a:graphic>
          <a:graphicData uri="http://schemas.openxmlformats.org/drawingml/2006/table">
            <a:tbl>
              <a:tblPr firstRow="1" firstCol="1" bandRow="1">
                <a:tableStyleId>{5C22544A-7EE6-4342-B048-85BDC9FD1C3A}</a:tableStyleId>
              </a:tblPr>
              <a:tblGrid>
                <a:gridCol w="3037395">
                  <a:extLst>
                    <a:ext uri="{9D8B030D-6E8A-4147-A177-3AD203B41FA5}">
                      <a16:colId xmlns:a16="http://schemas.microsoft.com/office/drawing/2014/main" val="1768003543"/>
                    </a:ext>
                  </a:extLst>
                </a:gridCol>
                <a:gridCol w="3037395">
                  <a:extLst>
                    <a:ext uri="{9D8B030D-6E8A-4147-A177-3AD203B41FA5}">
                      <a16:colId xmlns:a16="http://schemas.microsoft.com/office/drawing/2014/main" val="131817355"/>
                    </a:ext>
                  </a:extLst>
                </a:gridCol>
              </a:tblGrid>
              <a:tr h="360576">
                <a:tc>
                  <a:txBody>
                    <a:bodyPr/>
                    <a:lstStyle/>
                    <a:p>
                      <a:pPr>
                        <a:lnSpc>
                          <a:spcPct val="107000"/>
                        </a:lnSpc>
                        <a:spcAft>
                          <a:spcPts val="0"/>
                        </a:spcAft>
                      </a:pPr>
                      <a:r>
                        <a:rPr lang="en-GB" sz="1100">
                          <a:effectLst/>
                        </a:rPr>
                        <a:t>Zone</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Forecast Demand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1796011"/>
                  </a:ext>
                </a:extLst>
              </a:tr>
              <a:tr h="360576">
                <a:tc>
                  <a:txBody>
                    <a:bodyPr/>
                    <a:lstStyle/>
                    <a:p>
                      <a:pPr>
                        <a:lnSpc>
                          <a:spcPct val="107000"/>
                        </a:lnSpc>
                        <a:spcAft>
                          <a:spcPts val="0"/>
                        </a:spcAft>
                      </a:pPr>
                      <a:r>
                        <a:rPr lang="en-GB" sz="1100">
                          <a:effectLst/>
                        </a:rPr>
                        <a:t>Lobby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120 kwh</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1105993"/>
                  </a:ext>
                </a:extLst>
              </a:tr>
              <a:tr h="360576">
                <a:tc>
                  <a:txBody>
                    <a:bodyPr/>
                    <a:lstStyle/>
                    <a:p>
                      <a:pPr>
                        <a:lnSpc>
                          <a:spcPct val="107000"/>
                        </a:lnSpc>
                        <a:spcAft>
                          <a:spcPts val="0"/>
                        </a:spcAft>
                      </a:pPr>
                      <a:r>
                        <a:rPr lang="en-GB" sz="1100">
                          <a:effectLst/>
                        </a:rPr>
                        <a:t>Conference Room</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85kwh</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75313469"/>
                  </a:ext>
                </a:extLst>
              </a:tr>
              <a:tr h="360576">
                <a:tc>
                  <a:txBody>
                    <a:bodyPr/>
                    <a:lstStyle/>
                    <a:p>
                      <a:pPr>
                        <a:lnSpc>
                          <a:spcPct val="107000"/>
                        </a:lnSpc>
                        <a:spcAft>
                          <a:spcPts val="0"/>
                        </a:spcAft>
                      </a:pPr>
                      <a:r>
                        <a:rPr lang="en-GB" sz="1100">
                          <a:effectLst/>
                        </a:rPr>
                        <a:t>Office Area</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dirty="0">
                          <a:effectLst/>
                        </a:rPr>
                        <a:t>160kwh</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1064629"/>
                  </a:ext>
                </a:extLst>
              </a:tr>
            </a:tbl>
          </a:graphicData>
        </a:graphic>
      </p:graphicFrame>
    </p:spTree>
    <p:extLst>
      <p:ext uri="{BB962C8B-B14F-4D97-AF65-F5344CB8AC3E}">
        <p14:creationId xmlns:p14="http://schemas.microsoft.com/office/powerpoint/2010/main" val="2236480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BC1DB-D504-4690-AB8B-5448C1272474}"/>
              </a:ext>
            </a:extLst>
          </p:cNvPr>
          <p:cNvSpPr>
            <a:spLocks noGrp="1"/>
          </p:cNvSpPr>
          <p:nvPr>
            <p:ph type="title"/>
          </p:nvPr>
        </p:nvSpPr>
        <p:spPr>
          <a:xfrm>
            <a:off x="838200" y="365125"/>
            <a:ext cx="10515600" cy="756665"/>
          </a:xfrm>
        </p:spPr>
        <p:txBody>
          <a:bodyPr/>
          <a:lstStyle/>
          <a:p>
            <a:pPr algn="ctr"/>
            <a:r>
              <a:rPr lang="en-GB" b="1" dirty="0">
                <a:latin typeface="+mn-lt"/>
              </a:rPr>
              <a:t>Benefits of Implemented Use Cases</a:t>
            </a:r>
          </a:p>
        </p:txBody>
      </p:sp>
      <p:sp>
        <p:nvSpPr>
          <p:cNvPr id="3" name="Content Placeholder 2">
            <a:extLst>
              <a:ext uri="{FF2B5EF4-FFF2-40B4-BE49-F238E27FC236}">
                <a16:creationId xmlns:a16="http://schemas.microsoft.com/office/drawing/2014/main" id="{A80251F2-DA0F-4881-8936-EECBB9B46F79}"/>
              </a:ext>
            </a:extLst>
          </p:cNvPr>
          <p:cNvSpPr>
            <a:spLocks noGrp="1"/>
          </p:cNvSpPr>
          <p:nvPr>
            <p:ph idx="1"/>
          </p:nvPr>
        </p:nvSpPr>
        <p:spPr>
          <a:xfrm>
            <a:off x="226243" y="1055802"/>
            <a:ext cx="11840065" cy="5722070"/>
          </a:xfrm>
        </p:spPr>
        <p:txBody>
          <a:bodyPr>
            <a:normAutofit fontScale="85000" lnSpcReduction="20000"/>
          </a:bodyPr>
          <a:lstStyle/>
          <a:p>
            <a:pPr marL="0" indent="0">
              <a:buNone/>
            </a:pPr>
            <a:r>
              <a:rPr lang="en-GB" b="1" dirty="0"/>
              <a:t>Business Benefits</a:t>
            </a:r>
          </a:p>
          <a:p>
            <a:r>
              <a:rPr lang="en-GB" dirty="0"/>
              <a:t>Improved energy planning</a:t>
            </a:r>
          </a:p>
          <a:p>
            <a:r>
              <a:rPr lang="en-GB" dirty="0"/>
              <a:t>Better resource allocation</a:t>
            </a:r>
          </a:p>
          <a:p>
            <a:r>
              <a:rPr lang="en-GB" dirty="0"/>
              <a:t>Reduced operating costs</a:t>
            </a:r>
          </a:p>
          <a:p>
            <a:r>
              <a:rPr lang="en-GB" dirty="0"/>
              <a:t>Increased facility visibility</a:t>
            </a:r>
          </a:p>
          <a:p>
            <a:pPr marL="0" indent="0">
              <a:buNone/>
            </a:pPr>
            <a:r>
              <a:rPr lang="en-GB" b="1" dirty="0"/>
              <a:t>Technical Benefits</a:t>
            </a:r>
          </a:p>
          <a:p>
            <a:r>
              <a:rPr lang="en-GB" dirty="0"/>
              <a:t>Accurate data collection</a:t>
            </a:r>
          </a:p>
          <a:p>
            <a:r>
              <a:rPr lang="en-GB" dirty="0"/>
              <a:t>Reliable forecasting foundation</a:t>
            </a:r>
          </a:p>
          <a:p>
            <a:r>
              <a:rPr lang="en-GB" dirty="0"/>
              <a:t>Scalable architecture</a:t>
            </a:r>
          </a:p>
          <a:p>
            <a:r>
              <a:rPr lang="en-GB" dirty="0"/>
              <a:t>Support for future optimization modules</a:t>
            </a:r>
          </a:p>
          <a:p>
            <a:pPr marL="0" indent="0">
              <a:buNone/>
            </a:pPr>
            <a:endParaRPr lang="en-GB" dirty="0"/>
          </a:p>
          <a:p>
            <a:pPr marL="0" indent="0">
              <a:buNone/>
            </a:pPr>
            <a:r>
              <a:rPr lang="en-GB" dirty="0"/>
              <a:t>These first three use cases provide both business and technical value. They enable accurate data collection, support intelligent forecasting, and establish the foundation for future optimization features. By understanding building configurations and occupancy patterns, facility managers can make better decisions and reduce energy costs.</a:t>
            </a:r>
          </a:p>
        </p:txBody>
      </p:sp>
    </p:spTree>
    <p:extLst>
      <p:ext uri="{BB962C8B-B14F-4D97-AF65-F5344CB8AC3E}">
        <p14:creationId xmlns:p14="http://schemas.microsoft.com/office/powerpoint/2010/main" val="3514400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D609-A424-4F68-9B5D-F9675A164466}"/>
              </a:ext>
            </a:extLst>
          </p:cNvPr>
          <p:cNvSpPr>
            <a:spLocks noGrp="1"/>
          </p:cNvSpPr>
          <p:nvPr>
            <p:ph type="title"/>
          </p:nvPr>
        </p:nvSpPr>
        <p:spPr>
          <a:xfrm>
            <a:off x="838200" y="365126"/>
            <a:ext cx="10515600" cy="700104"/>
          </a:xfrm>
        </p:spPr>
        <p:txBody>
          <a:bodyPr/>
          <a:lstStyle/>
          <a:p>
            <a:pPr algn="ctr"/>
            <a:r>
              <a:rPr lang="en-GB" b="1" dirty="0">
                <a:latin typeface="+mn-lt"/>
              </a:rPr>
              <a:t>Challenges and Future Work</a:t>
            </a:r>
          </a:p>
        </p:txBody>
      </p:sp>
      <p:sp>
        <p:nvSpPr>
          <p:cNvPr id="3" name="Content Placeholder 2">
            <a:extLst>
              <a:ext uri="{FF2B5EF4-FFF2-40B4-BE49-F238E27FC236}">
                <a16:creationId xmlns:a16="http://schemas.microsoft.com/office/drawing/2014/main" id="{D5D1A9E8-3EF0-451F-992F-09A1ABC37621}"/>
              </a:ext>
            </a:extLst>
          </p:cNvPr>
          <p:cNvSpPr>
            <a:spLocks noGrp="1"/>
          </p:cNvSpPr>
          <p:nvPr>
            <p:ph idx="1"/>
          </p:nvPr>
        </p:nvSpPr>
        <p:spPr>
          <a:xfrm>
            <a:off x="113123" y="1065230"/>
            <a:ext cx="11906052" cy="5656081"/>
          </a:xfrm>
        </p:spPr>
        <p:txBody>
          <a:bodyPr>
            <a:normAutofit fontScale="92500" lnSpcReduction="20000"/>
          </a:bodyPr>
          <a:lstStyle/>
          <a:p>
            <a:pPr marL="0" indent="0">
              <a:buNone/>
            </a:pPr>
            <a:r>
              <a:rPr lang="en-GB" b="1" dirty="0"/>
              <a:t>Current Challenges</a:t>
            </a:r>
          </a:p>
          <a:p>
            <a:r>
              <a:rPr lang="en-GB" dirty="0"/>
              <a:t>Data quality management</a:t>
            </a:r>
          </a:p>
          <a:p>
            <a:r>
              <a:rPr lang="en-GB" dirty="0"/>
              <a:t>Forecast accuracy</a:t>
            </a:r>
          </a:p>
          <a:p>
            <a:r>
              <a:rPr lang="en-GB" dirty="0"/>
              <a:t>Real-time integration</a:t>
            </a:r>
          </a:p>
          <a:p>
            <a:pPr marL="0" indent="0">
              <a:buNone/>
            </a:pPr>
            <a:r>
              <a:rPr lang="en-GB" b="1" dirty="0"/>
              <a:t>Future Enhancements</a:t>
            </a:r>
          </a:p>
          <a:p>
            <a:r>
              <a:rPr lang="en-GB" dirty="0"/>
              <a:t>HVAC optimization recommendations</a:t>
            </a:r>
          </a:p>
          <a:p>
            <a:r>
              <a:rPr lang="en-GB" dirty="0"/>
              <a:t>Comfort monitoring</a:t>
            </a:r>
          </a:p>
          <a:p>
            <a:r>
              <a:rPr lang="en-GB" dirty="0"/>
              <a:t>Automated energy plans</a:t>
            </a:r>
          </a:p>
          <a:p>
            <a:r>
              <a:rPr lang="en-GB" dirty="0"/>
              <a:t>Daily savings reports</a:t>
            </a:r>
          </a:p>
          <a:p>
            <a:endParaRPr lang="en-GB" dirty="0"/>
          </a:p>
          <a:p>
            <a:pPr marL="0" indent="0">
              <a:buNone/>
            </a:pPr>
            <a:r>
              <a:rPr lang="en-GB" dirty="0"/>
              <a:t>While the implemented use cases provide a strong foundation, future development will focus on recommendation engines, comfort monitoring, automated control actions, and reporting functions. These enhancements will transform the system from a forecasting tool into a complete intelligent energy optimization platform.</a:t>
            </a:r>
          </a:p>
        </p:txBody>
      </p:sp>
    </p:spTree>
    <p:extLst>
      <p:ext uri="{BB962C8B-B14F-4D97-AF65-F5344CB8AC3E}">
        <p14:creationId xmlns:p14="http://schemas.microsoft.com/office/powerpoint/2010/main" val="1127065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CE149-D31B-439D-A663-F5931F909F77}"/>
              </a:ext>
            </a:extLst>
          </p:cNvPr>
          <p:cNvSpPr>
            <a:spLocks noGrp="1"/>
          </p:cNvSpPr>
          <p:nvPr>
            <p:ph type="title"/>
          </p:nvPr>
        </p:nvSpPr>
        <p:spPr>
          <a:xfrm>
            <a:off x="838200" y="365125"/>
            <a:ext cx="10515600" cy="737811"/>
          </a:xfrm>
        </p:spPr>
        <p:txBody>
          <a:bodyPr/>
          <a:lstStyle/>
          <a:p>
            <a:pPr algn="ctr"/>
            <a:r>
              <a:rPr lang="en-GB" b="1" dirty="0">
                <a:latin typeface="+mn-lt"/>
              </a:rPr>
              <a:t>Conclusion</a:t>
            </a:r>
          </a:p>
        </p:txBody>
      </p:sp>
      <p:sp>
        <p:nvSpPr>
          <p:cNvPr id="3" name="Content Placeholder 2">
            <a:extLst>
              <a:ext uri="{FF2B5EF4-FFF2-40B4-BE49-F238E27FC236}">
                <a16:creationId xmlns:a16="http://schemas.microsoft.com/office/drawing/2014/main" id="{BDCF9FAE-C676-4A07-93B3-C7E6A9CCA006}"/>
              </a:ext>
            </a:extLst>
          </p:cNvPr>
          <p:cNvSpPr>
            <a:spLocks noGrp="1"/>
          </p:cNvSpPr>
          <p:nvPr>
            <p:ph idx="1"/>
          </p:nvPr>
        </p:nvSpPr>
        <p:spPr>
          <a:xfrm>
            <a:off x="141402" y="1102936"/>
            <a:ext cx="11887200" cy="5618375"/>
          </a:xfrm>
        </p:spPr>
        <p:txBody>
          <a:bodyPr>
            <a:normAutofit lnSpcReduction="10000"/>
          </a:bodyPr>
          <a:lstStyle/>
          <a:p>
            <a:pPr marL="0" indent="0">
              <a:buNone/>
            </a:pPr>
            <a:r>
              <a:rPr lang="en-GB" b="1" dirty="0"/>
              <a:t>Successfully Demonstrated</a:t>
            </a:r>
          </a:p>
          <a:p>
            <a:pPr marL="0" indent="0">
              <a:buNone/>
            </a:pPr>
            <a:r>
              <a:rPr lang="en-GB" dirty="0"/>
              <a:t>✓ Register Building Profile</a:t>
            </a:r>
          </a:p>
          <a:p>
            <a:pPr marL="0" indent="0">
              <a:buNone/>
            </a:pPr>
            <a:r>
              <a:rPr lang="en-GB" dirty="0"/>
              <a:t>✓ Import Occupancy Schedule</a:t>
            </a:r>
          </a:p>
          <a:p>
            <a:pPr marL="0" indent="0">
              <a:buNone/>
            </a:pPr>
            <a:r>
              <a:rPr lang="en-GB" dirty="0"/>
              <a:t>✓ Forecast Zone Demand</a:t>
            </a:r>
          </a:p>
          <a:p>
            <a:pPr marL="0" indent="0">
              <a:buNone/>
            </a:pPr>
            <a:r>
              <a:rPr lang="en-GB" b="1" dirty="0"/>
              <a:t>Outcome</a:t>
            </a:r>
          </a:p>
          <a:p>
            <a:r>
              <a:rPr lang="en-GB" dirty="0"/>
              <a:t>Foundation established for intelligent building energy optimization.</a:t>
            </a:r>
          </a:p>
          <a:p>
            <a:pPr marL="0" indent="0">
              <a:buNone/>
            </a:pPr>
            <a:endParaRPr lang="en-GB" dirty="0"/>
          </a:p>
          <a:p>
            <a:pPr marL="0" indent="0">
              <a:buNone/>
            </a:pPr>
            <a:r>
              <a:rPr lang="en-GB" dirty="0"/>
              <a:t>In conclusion, this presentation demonstrated the first three use cases of the Smart Building Energy Optimization Assistant. We successfully registered building information, imported occupancy schedules, and generated energy demand forecasts. These capabilities establish the foundation for future optimization and energy-saving recommendations. Thank you for your time, and I welcome any questions.</a:t>
            </a:r>
          </a:p>
          <a:p>
            <a:endParaRPr lang="en-GB" dirty="0"/>
          </a:p>
        </p:txBody>
      </p:sp>
    </p:spTree>
    <p:extLst>
      <p:ext uri="{BB962C8B-B14F-4D97-AF65-F5344CB8AC3E}">
        <p14:creationId xmlns:p14="http://schemas.microsoft.com/office/powerpoint/2010/main" val="2184720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1129</Words>
  <Application>Microsoft Office PowerPoint</Application>
  <PresentationFormat>Widescreen</PresentationFormat>
  <Paragraphs>160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Introduction</vt:lpstr>
      <vt:lpstr>Project Overview</vt:lpstr>
      <vt:lpstr>System Architecture</vt:lpstr>
      <vt:lpstr>Use Case 1 – Register Building</vt:lpstr>
      <vt:lpstr>Demonstration – Register Building Profile</vt:lpstr>
      <vt:lpstr>Use Case 2 – Import Occupancy Schedule</vt:lpstr>
      <vt:lpstr>Demonstration – Import Occupancy Schedule</vt:lpstr>
      <vt:lpstr>Use Case 3 – Forecast Zone Demand</vt:lpstr>
      <vt:lpstr>Demonstration – Forecast Zone Demand</vt:lpstr>
      <vt:lpstr>Benefits of Implemented Use Cases</vt:lpstr>
      <vt:lpstr>Challenges and Future Work</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lastModifiedBy>Stephanie</cp:lastModifiedBy>
  <cp:revision>5</cp:revision>
  <dcterms:created xsi:type="dcterms:W3CDTF">2026-06-15T18:50:11Z</dcterms:created>
  <dcterms:modified xsi:type="dcterms:W3CDTF">2026-06-15T19:13:27Z</dcterms:modified>
</cp:coreProperties>
</file>