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68" r:id="rId3"/>
    <p:sldId id="257" r:id="rId4"/>
    <p:sldId id="258" r:id="rId5"/>
    <p:sldId id="259" r:id="rId6"/>
    <p:sldId id="260" r:id="rId7"/>
    <p:sldId id="261" r:id="rId8"/>
    <p:sldId id="262" r:id="rId9"/>
    <p:sldId id="263" r:id="rId10"/>
    <p:sldId id="264" r:id="rId11"/>
    <p:sldId id="265" r:id="rId12"/>
    <p:sldId id="266"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13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522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E628F0-DDF7-4994-B9DC-3251070CF6EC}"/>
              </a:ext>
            </a:extLst>
          </p:cNvPr>
          <p:cNvSpPr/>
          <p:nvPr/>
        </p:nvSpPr>
        <p:spPr>
          <a:xfrm>
            <a:off x="254000" y="1097280"/>
            <a:ext cx="8524240" cy="5632311"/>
          </a:xfrm>
          <a:prstGeom prst="rect">
            <a:avLst/>
          </a:prstGeom>
        </p:spPr>
        <p:txBody>
          <a:bodyPr wrap="square">
            <a:spAutoFit/>
          </a:bodyPr>
          <a:lstStyle/>
          <a:p>
            <a:pPr algn="ctr"/>
            <a:r>
              <a:rPr lang="en-GB" sz="4000" b="1" dirty="0"/>
              <a:t>Smart Building Energy Optimization Assistant</a:t>
            </a:r>
          </a:p>
          <a:p>
            <a:pPr algn="ctr"/>
            <a:r>
              <a:rPr lang="en-GB" sz="4000" b="1" dirty="0"/>
              <a:t>Demonstration of Use Cases 7–9</a:t>
            </a:r>
          </a:p>
          <a:p>
            <a:pPr algn="ctr"/>
            <a:endParaRPr lang="en-GB" sz="4000" b="1" dirty="0"/>
          </a:p>
          <a:p>
            <a:pPr algn="ctr"/>
            <a:r>
              <a:rPr lang="en-GB" sz="4000" b="1" dirty="0"/>
              <a:t>Course:</a:t>
            </a:r>
            <a:r>
              <a:rPr lang="en-GB" sz="4000" dirty="0"/>
              <a:t> CISC 699 – Applied Project</a:t>
            </a:r>
          </a:p>
          <a:p>
            <a:pPr algn="ctr"/>
            <a:br>
              <a:rPr lang="en-GB" sz="4000" dirty="0"/>
            </a:br>
            <a:r>
              <a:rPr lang="en-GB" sz="4000" b="1" dirty="0"/>
              <a:t>Student:</a:t>
            </a:r>
            <a:r>
              <a:rPr lang="en-GB" sz="4000" dirty="0"/>
              <a:t> Venkat </a:t>
            </a:r>
            <a:r>
              <a:rPr lang="en-GB" sz="4000" dirty="0" err="1"/>
              <a:t>Shyam</a:t>
            </a:r>
            <a:r>
              <a:rPr lang="en-GB" sz="4000" dirty="0"/>
              <a:t> </a:t>
            </a:r>
            <a:r>
              <a:rPr lang="en-GB" sz="4000" dirty="0" err="1"/>
              <a:t>Damagatla</a:t>
            </a:r>
            <a:endParaRPr lang="en-GB" sz="4000" dirty="0"/>
          </a:p>
          <a:p>
            <a:pPr algn="ctr"/>
            <a:br>
              <a:rPr lang="en-GB" sz="4000" dirty="0"/>
            </a:br>
            <a:r>
              <a:rPr lang="en-GB" sz="4000" b="1" dirty="0"/>
              <a:t>Date:</a:t>
            </a:r>
            <a:r>
              <a:rPr lang="en-GB" sz="4000" dirty="0"/>
              <a:t> June 15, 2026</a:t>
            </a:r>
          </a:p>
        </p:txBody>
      </p:sp>
    </p:spTree>
    <p:extLst>
      <p:ext uri="{BB962C8B-B14F-4D97-AF65-F5344CB8AC3E}">
        <p14:creationId xmlns:p14="http://schemas.microsoft.com/office/powerpoint/2010/main" val="2163829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434AD-A060-44FF-B42B-84E3F0D60EF9}"/>
              </a:ext>
            </a:extLst>
          </p:cNvPr>
          <p:cNvSpPr>
            <a:spLocks noGrp="1"/>
          </p:cNvSpPr>
          <p:nvPr>
            <p:ph type="title"/>
          </p:nvPr>
        </p:nvSpPr>
        <p:spPr>
          <a:xfrm>
            <a:off x="457200" y="274638"/>
            <a:ext cx="8229600" cy="761682"/>
          </a:xfrm>
        </p:spPr>
        <p:txBody>
          <a:bodyPr>
            <a:normAutofit fontScale="90000"/>
          </a:bodyPr>
          <a:lstStyle/>
          <a:p>
            <a:r>
              <a:rPr lang="en-GB" b="1" dirty="0">
                <a:latin typeface="+mn-lt"/>
              </a:rPr>
              <a:t>Introduction</a:t>
            </a:r>
          </a:p>
        </p:txBody>
      </p:sp>
      <p:sp>
        <p:nvSpPr>
          <p:cNvPr id="3" name="Content Placeholder 2">
            <a:extLst>
              <a:ext uri="{FF2B5EF4-FFF2-40B4-BE49-F238E27FC236}">
                <a16:creationId xmlns:a16="http://schemas.microsoft.com/office/drawing/2014/main" id="{9F88675A-6FD6-40CB-BC34-37FDDA851BBC}"/>
              </a:ext>
            </a:extLst>
          </p:cNvPr>
          <p:cNvSpPr>
            <a:spLocks noGrp="1"/>
          </p:cNvSpPr>
          <p:nvPr>
            <p:ph idx="1"/>
          </p:nvPr>
        </p:nvSpPr>
        <p:spPr/>
        <p:txBody>
          <a:bodyPr>
            <a:normAutofit fontScale="77500" lnSpcReduction="20000"/>
          </a:bodyPr>
          <a:lstStyle/>
          <a:p>
            <a:pPr marL="0" indent="0">
              <a:buNone/>
            </a:pPr>
            <a:r>
              <a:rPr lang="en-GB" dirty="0"/>
              <a:t>Good day everyone. Today I will demonstrate Use Cases 7, 8, and 9 of my Smart Building Energy Optimization Assistant project. </a:t>
            </a:r>
          </a:p>
          <a:p>
            <a:pPr marL="0" indent="0">
              <a:buNone/>
            </a:pPr>
            <a:r>
              <a:rPr lang="en-GB" dirty="0"/>
              <a:t>The purpose of this system is to improve energy efficiency while maintaining occupant comfort within a smart building environment. </a:t>
            </a:r>
          </a:p>
          <a:p>
            <a:pPr marL="0" indent="0">
              <a:buNone/>
            </a:pPr>
            <a:r>
              <a:rPr lang="en-GB" dirty="0"/>
              <a:t>In previous demonstrations, I showed how the system registers building profiles, imports occupancy schedules, forecasts energy demand, recommends HVAC adjustments, applies approved plans, and adapts to occupancy changes. </a:t>
            </a:r>
          </a:p>
          <a:p>
            <a:pPr marL="0" indent="0">
              <a:buNone/>
            </a:pPr>
            <a:r>
              <a:rPr lang="en-GB" dirty="0"/>
              <a:t>Today's demonstration focuses on comfort monitoring, explainable recommendations, and reporting capabilities.</a:t>
            </a:r>
          </a:p>
        </p:txBody>
      </p:sp>
    </p:spTree>
    <p:extLst>
      <p:ext uri="{BB962C8B-B14F-4D97-AF65-F5344CB8AC3E}">
        <p14:creationId xmlns:p14="http://schemas.microsoft.com/office/powerpoint/2010/main" val="2578466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41362"/>
          </a:xfrm>
        </p:spPr>
        <p:txBody>
          <a:bodyPr>
            <a:normAutofit fontScale="90000"/>
          </a:bodyPr>
          <a:lstStyle/>
          <a:p>
            <a:r>
              <a:rPr b="1" dirty="0"/>
              <a:t>Project Overview</a:t>
            </a:r>
          </a:p>
        </p:txBody>
      </p:sp>
      <p:sp>
        <p:nvSpPr>
          <p:cNvPr id="3" name="Content Placeholder 2"/>
          <p:cNvSpPr>
            <a:spLocks noGrp="1"/>
          </p:cNvSpPr>
          <p:nvPr>
            <p:ph idx="1"/>
          </p:nvPr>
        </p:nvSpPr>
        <p:spPr>
          <a:xfrm>
            <a:off x="121920" y="1107440"/>
            <a:ext cx="8859520" cy="5598160"/>
          </a:xfrm>
        </p:spPr>
        <p:txBody>
          <a:bodyPr>
            <a:normAutofit fontScale="77500" lnSpcReduction="20000"/>
          </a:bodyPr>
          <a:lstStyle/>
          <a:p>
            <a:pPr marL="0" indent="0">
              <a:buNone/>
            </a:pPr>
            <a:r>
              <a:rPr dirty="0"/>
              <a:t>• Reduce building energy consumption</a:t>
            </a:r>
          </a:p>
          <a:p>
            <a:pPr marL="0" indent="0">
              <a:buNone/>
            </a:pPr>
            <a:r>
              <a:rPr dirty="0"/>
              <a:t>• Maintain occupant comfort</a:t>
            </a:r>
          </a:p>
          <a:p>
            <a:pPr marL="0" indent="0">
              <a:buNone/>
            </a:pPr>
            <a:r>
              <a:rPr dirty="0"/>
              <a:t>• Support data-driven decision making</a:t>
            </a:r>
          </a:p>
          <a:p>
            <a:pPr marL="0" indent="0">
              <a:buNone/>
            </a:pPr>
            <a:r>
              <a:rPr dirty="0"/>
              <a:t>• Provide transparency and measurable savings</a:t>
            </a:r>
          </a:p>
          <a:p>
            <a:endParaRPr dirty="0"/>
          </a:p>
          <a:p>
            <a:pPr marL="0" indent="0">
              <a:buNone/>
            </a:pPr>
            <a:r>
              <a:rPr b="1" dirty="0"/>
              <a:t>Key Components:</a:t>
            </a:r>
          </a:p>
          <a:p>
            <a:r>
              <a:rPr dirty="0"/>
              <a:t>Occupancy Data Service, Forecasting Service, Optimization Service, Comfort Monitoring Service, Reporting Service</a:t>
            </a:r>
            <a:endParaRPr lang="en-GB" dirty="0"/>
          </a:p>
          <a:p>
            <a:pPr marL="0" indent="0">
              <a:buNone/>
            </a:pPr>
            <a:endParaRPr lang="en-GB" dirty="0"/>
          </a:p>
          <a:p>
            <a:pPr marL="0" indent="0">
              <a:buNone/>
            </a:pPr>
            <a:r>
              <a:rPr lang="en-GB" dirty="0"/>
              <a:t>The Smart Building Energy Optimization Assistant is designed to help facility managers optimize building operations. The system combines occupancy schedules, weather forecasts, and device information to generate intelligent recommendations. The use cases presented today focus on ensuring occupant comfort, explaining why recommendations are generated, and providing measurable evidence of energy savings.</a:t>
            </a:r>
          </a:p>
          <a:p>
            <a:endParaRPr lang="en-GB" dirty="0"/>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9282"/>
          </a:xfrm>
        </p:spPr>
        <p:txBody>
          <a:bodyPr>
            <a:normAutofit fontScale="90000"/>
          </a:bodyPr>
          <a:lstStyle/>
          <a:p>
            <a:r>
              <a:rPr b="1" dirty="0"/>
              <a:t>Demonstration Scope</a:t>
            </a:r>
          </a:p>
        </p:txBody>
      </p:sp>
      <p:sp>
        <p:nvSpPr>
          <p:cNvPr id="3" name="Content Placeholder 2"/>
          <p:cNvSpPr>
            <a:spLocks noGrp="1"/>
          </p:cNvSpPr>
          <p:nvPr>
            <p:ph idx="1"/>
          </p:nvPr>
        </p:nvSpPr>
        <p:spPr>
          <a:xfrm>
            <a:off x="457200" y="1229360"/>
            <a:ext cx="8229600" cy="5516880"/>
          </a:xfrm>
        </p:spPr>
        <p:txBody>
          <a:bodyPr>
            <a:normAutofit fontScale="92500" lnSpcReduction="20000"/>
          </a:bodyPr>
          <a:lstStyle/>
          <a:p>
            <a:r>
              <a:rPr dirty="0"/>
              <a:t>UC4.7 – Detect Comfort Violation Risk</a:t>
            </a:r>
          </a:p>
          <a:p>
            <a:r>
              <a:rPr dirty="0"/>
              <a:t>UC4.8 – Explain Recommendation</a:t>
            </a:r>
          </a:p>
          <a:p>
            <a:r>
              <a:rPr dirty="0"/>
              <a:t>UC4.9 – Generate Daily Savings Report</a:t>
            </a:r>
            <a:endParaRPr lang="en-GB" dirty="0"/>
          </a:p>
          <a:p>
            <a:endParaRPr lang="en-GB" dirty="0"/>
          </a:p>
          <a:p>
            <a:pPr marL="0" indent="0">
              <a:buNone/>
            </a:pPr>
            <a:r>
              <a:rPr lang="en-GB" dirty="0"/>
              <a:t>This demonstration focuses on three important capabilities. First, the system continuously monitors building conditions and identifies areas where occupants may become uncomfortable. Second, the system explains its recommendations so facility managers understand the reasoning behind optimization decisions. Third, the system generates reports showing actual energy savings achieved through optimization.</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31202"/>
          </a:xfrm>
        </p:spPr>
        <p:txBody>
          <a:bodyPr>
            <a:normAutofit fontScale="90000"/>
          </a:bodyPr>
          <a:lstStyle/>
          <a:p>
            <a:r>
              <a:rPr b="1" dirty="0"/>
              <a:t>System Architecture</a:t>
            </a:r>
          </a:p>
        </p:txBody>
      </p:sp>
      <p:sp>
        <p:nvSpPr>
          <p:cNvPr id="3" name="Content Placeholder 2"/>
          <p:cNvSpPr>
            <a:spLocks noGrp="1"/>
          </p:cNvSpPr>
          <p:nvPr>
            <p:ph idx="1"/>
          </p:nvPr>
        </p:nvSpPr>
        <p:spPr>
          <a:xfrm>
            <a:off x="111760" y="1005840"/>
            <a:ext cx="8849360" cy="5699760"/>
          </a:xfrm>
        </p:spPr>
        <p:txBody>
          <a:bodyPr>
            <a:normAutofit fontScale="77500" lnSpcReduction="20000"/>
          </a:bodyPr>
          <a:lstStyle/>
          <a:p>
            <a:r>
              <a:rPr dirty="0"/>
              <a:t>Facility Manager → Comfort Monitoring Service → Optimization Service → Explanation Service → Reporting Service → Dashboard</a:t>
            </a:r>
          </a:p>
          <a:p>
            <a:endParaRPr dirty="0"/>
          </a:p>
          <a:p>
            <a:pPr marL="0" indent="0">
              <a:buNone/>
            </a:pPr>
            <a:r>
              <a:rPr b="1" dirty="0"/>
              <a:t>Data Sources:</a:t>
            </a:r>
          </a:p>
          <a:p>
            <a:pPr marL="0" indent="0">
              <a:buNone/>
            </a:pPr>
            <a:r>
              <a:rPr dirty="0"/>
              <a:t>• Occupancy Schedules</a:t>
            </a:r>
          </a:p>
          <a:p>
            <a:pPr marL="0" indent="0">
              <a:buNone/>
            </a:pPr>
            <a:r>
              <a:rPr dirty="0"/>
              <a:t>• Weather Forecasts</a:t>
            </a:r>
          </a:p>
          <a:p>
            <a:pPr marL="0" indent="0">
              <a:buNone/>
            </a:pPr>
            <a:r>
              <a:rPr dirty="0"/>
              <a:t>• Sensor Data</a:t>
            </a:r>
          </a:p>
          <a:p>
            <a:pPr marL="0" indent="0">
              <a:buNone/>
            </a:pPr>
            <a:r>
              <a:rPr dirty="0"/>
              <a:t>• Device Status</a:t>
            </a:r>
            <a:endParaRPr lang="en-GB" dirty="0"/>
          </a:p>
          <a:p>
            <a:pPr marL="0" indent="0">
              <a:buNone/>
            </a:pPr>
            <a:endParaRPr lang="en-GB" dirty="0"/>
          </a:p>
          <a:p>
            <a:pPr marL="0" indent="0">
              <a:buNone/>
            </a:pPr>
            <a:r>
              <a:rPr lang="en-GB" dirty="0"/>
              <a:t>This slide shows the major components involved in today's demonstration. The Comfort Monitoring Service evaluates temperatures and comfort conditions. The Optimization Service generates recommendations. The Explanation Service provides reasoning behind those recommendations. The Reporting Service calculates energy savings and generates reports.</a:t>
            </a:r>
          </a:p>
          <a:p>
            <a:endParaRPr lang="en-GB" dirty="0"/>
          </a:p>
          <a:p>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70242"/>
          </a:xfrm>
        </p:spPr>
        <p:txBody>
          <a:bodyPr>
            <a:normAutofit fontScale="90000"/>
          </a:bodyPr>
          <a:lstStyle/>
          <a:p>
            <a:r>
              <a:rPr b="1" dirty="0">
                <a:latin typeface="+mn-lt"/>
              </a:rPr>
              <a:t>Use Case 7 – Detect Comfort Violation Risk</a:t>
            </a:r>
          </a:p>
        </p:txBody>
      </p:sp>
      <p:sp>
        <p:nvSpPr>
          <p:cNvPr id="3" name="Content Placeholder 2"/>
          <p:cNvSpPr>
            <a:spLocks noGrp="1"/>
          </p:cNvSpPr>
          <p:nvPr>
            <p:ph idx="1"/>
          </p:nvPr>
        </p:nvSpPr>
        <p:spPr>
          <a:xfrm>
            <a:off x="111760" y="1300480"/>
            <a:ext cx="8900160" cy="5415280"/>
          </a:xfrm>
        </p:spPr>
        <p:txBody>
          <a:bodyPr>
            <a:normAutofit fontScale="70000" lnSpcReduction="20000"/>
          </a:bodyPr>
          <a:lstStyle/>
          <a:p>
            <a:r>
              <a:rPr dirty="0"/>
              <a:t>Objective: Detect zones where energy-saving plans may cause discomfort.</a:t>
            </a:r>
          </a:p>
          <a:p>
            <a:pPr marL="0" indent="0">
              <a:buNone/>
            </a:pPr>
            <a:r>
              <a:rPr b="1" dirty="0"/>
              <a:t>Inputs:</a:t>
            </a:r>
          </a:p>
          <a:p>
            <a:pPr marL="0" indent="0">
              <a:buNone/>
            </a:pPr>
            <a:r>
              <a:rPr dirty="0"/>
              <a:t>• Temperature readings</a:t>
            </a:r>
          </a:p>
          <a:p>
            <a:pPr marL="0" indent="0">
              <a:buNone/>
            </a:pPr>
            <a:r>
              <a:rPr dirty="0"/>
              <a:t>• Occupancy information</a:t>
            </a:r>
          </a:p>
          <a:p>
            <a:pPr marL="0" indent="0">
              <a:buNone/>
            </a:pPr>
            <a:r>
              <a:rPr dirty="0"/>
              <a:t>• Comfort thresholds</a:t>
            </a:r>
          </a:p>
          <a:p>
            <a:pPr marL="0" indent="0">
              <a:buNone/>
            </a:pPr>
            <a:r>
              <a:rPr b="1" dirty="0"/>
              <a:t>Outputs:</a:t>
            </a:r>
          </a:p>
          <a:p>
            <a:pPr marL="0" indent="0">
              <a:buNone/>
            </a:pPr>
            <a:r>
              <a:rPr dirty="0"/>
              <a:t>• Risk alerts</a:t>
            </a:r>
          </a:p>
          <a:p>
            <a:pPr marL="0" indent="0">
              <a:buNone/>
            </a:pPr>
            <a:r>
              <a:rPr dirty="0"/>
              <a:t>• Risk scores</a:t>
            </a:r>
          </a:p>
          <a:p>
            <a:pPr marL="0" indent="0">
              <a:buNone/>
            </a:pPr>
            <a:r>
              <a:rPr dirty="0"/>
              <a:t>• Mitigation recommendations</a:t>
            </a:r>
            <a:endParaRPr lang="en-GB" dirty="0"/>
          </a:p>
          <a:p>
            <a:pPr marL="0" indent="0">
              <a:buNone/>
            </a:pPr>
            <a:endParaRPr lang="en-GB" dirty="0"/>
          </a:p>
          <a:p>
            <a:pPr marL="0" indent="0">
              <a:buNone/>
            </a:pPr>
            <a:r>
              <a:rPr lang="en-GB" dirty="0"/>
              <a:t>The objective of Use Case 7 is to ensure occupant comfort. The system continuously evaluates temperature readings, occupancy levels, and predefined comfort thresholds. If a risk is detected, alerts are generated before occupants experience discomfort.</a:t>
            </a:r>
          </a:p>
          <a:p>
            <a:pPr marL="0" indent="0">
              <a:buNone/>
            </a:pPr>
            <a:endParaRPr lang="en-GB" dirty="0"/>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90562"/>
          </a:xfrm>
        </p:spPr>
        <p:txBody>
          <a:bodyPr>
            <a:normAutofit fontScale="90000"/>
          </a:bodyPr>
          <a:lstStyle/>
          <a:p>
            <a:r>
              <a:rPr b="1" dirty="0"/>
              <a:t>UC7 Demonstration</a:t>
            </a:r>
          </a:p>
        </p:txBody>
      </p:sp>
      <p:sp>
        <p:nvSpPr>
          <p:cNvPr id="3" name="Content Placeholder 2"/>
          <p:cNvSpPr>
            <a:spLocks noGrp="1"/>
          </p:cNvSpPr>
          <p:nvPr>
            <p:ph idx="1"/>
          </p:nvPr>
        </p:nvSpPr>
        <p:spPr>
          <a:xfrm>
            <a:off x="101600" y="1076960"/>
            <a:ext cx="8940800" cy="5781040"/>
          </a:xfrm>
        </p:spPr>
        <p:txBody>
          <a:bodyPr>
            <a:normAutofit fontScale="77500" lnSpcReduction="20000"/>
          </a:bodyPr>
          <a:lstStyle/>
          <a:p>
            <a:pPr marL="0" indent="0">
              <a:buNone/>
            </a:pPr>
            <a:r>
              <a:rPr dirty="0"/>
              <a:t>Conference Room Temperature: 79°F</a:t>
            </a:r>
          </a:p>
          <a:p>
            <a:pPr marL="0" indent="0">
              <a:buNone/>
            </a:pPr>
            <a:r>
              <a:rPr dirty="0"/>
              <a:t>Threshold: 75°F</a:t>
            </a:r>
          </a:p>
          <a:p>
            <a:pPr marL="0" indent="0">
              <a:buNone/>
            </a:pPr>
            <a:r>
              <a:rPr dirty="0"/>
              <a:t>Occupancy: 22 People</a:t>
            </a:r>
          </a:p>
          <a:p>
            <a:endParaRPr dirty="0"/>
          </a:p>
          <a:p>
            <a:pPr marL="0" indent="0">
              <a:buNone/>
            </a:pPr>
            <a:r>
              <a:rPr b="1" dirty="0"/>
              <a:t>System Actions:</a:t>
            </a:r>
          </a:p>
          <a:p>
            <a:pPr marL="0" indent="0">
              <a:buNone/>
            </a:pPr>
            <a:r>
              <a:rPr dirty="0"/>
              <a:t>1. Detect threshold violation</a:t>
            </a:r>
          </a:p>
          <a:p>
            <a:pPr marL="0" indent="0">
              <a:buNone/>
            </a:pPr>
            <a:r>
              <a:rPr dirty="0"/>
              <a:t>2. Calculate risk score</a:t>
            </a:r>
          </a:p>
          <a:p>
            <a:pPr marL="0" indent="0">
              <a:buNone/>
            </a:pPr>
            <a:r>
              <a:rPr dirty="0"/>
              <a:t>3. Generate alert</a:t>
            </a:r>
          </a:p>
          <a:p>
            <a:pPr marL="0" indent="0">
              <a:buNone/>
            </a:pPr>
            <a:r>
              <a:rPr dirty="0"/>
              <a:t>4. Recommend corrective action</a:t>
            </a:r>
            <a:endParaRPr lang="en-GB" dirty="0"/>
          </a:p>
          <a:p>
            <a:pPr marL="0" indent="0">
              <a:buNone/>
            </a:pPr>
            <a:endParaRPr lang="en-GB" dirty="0"/>
          </a:p>
          <a:p>
            <a:pPr marL="0" indent="0">
              <a:buNone/>
            </a:pPr>
            <a:r>
              <a:rPr lang="en-GB" dirty="0"/>
              <a:t>In this example, the conference room temperature has reached 79 degrees Fahrenheit, exceeding the comfort threshold. The system automatically detects the violation, calculates a risk score, generates an alert, and recommends corrective actions.</a:t>
            </a:r>
          </a:p>
          <a:p>
            <a:pPr marL="0" indent="0">
              <a:buNone/>
            </a:pPr>
            <a:endParaRPr lang="en-GB" dirty="0"/>
          </a:p>
          <a:p>
            <a:pPr marL="0" indent="0">
              <a:buNone/>
            </a:pPr>
            <a:endParaRPr dirty="0"/>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Comfort Risk Results</a:t>
            </a:r>
          </a:p>
        </p:txBody>
      </p:sp>
      <p:sp>
        <p:nvSpPr>
          <p:cNvPr id="3" name="Content Placeholder 2"/>
          <p:cNvSpPr>
            <a:spLocks noGrp="1"/>
          </p:cNvSpPr>
          <p:nvPr>
            <p:ph idx="1"/>
          </p:nvPr>
        </p:nvSpPr>
        <p:spPr>
          <a:xfrm>
            <a:off x="182880" y="1600200"/>
            <a:ext cx="8757920" cy="4983162"/>
          </a:xfrm>
        </p:spPr>
        <p:txBody>
          <a:bodyPr>
            <a:normAutofit fontScale="92500" lnSpcReduction="10000"/>
          </a:bodyPr>
          <a:lstStyle/>
          <a:p>
            <a:pPr marL="0" indent="0">
              <a:buNone/>
            </a:pPr>
            <a:endParaRPr dirty="0"/>
          </a:p>
          <a:p>
            <a:endParaRPr lang="en-GB" dirty="0"/>
          </a:p>
          <a:p>
            <a:r>
              <a:rPr b="1" dirty="0"/>
              <a:t>Recommendation</a:t>
            </a:r>
            <a:r>
              <a:rPr dirty="0"/>
              <a:t>: Increase cooling in Conference Room immediately.</a:t>
            </a:r>
            <a:endParaRPr lang="en-GB" dirty="0"/>
          </a:p>
          <a:p>
            <a:endParaRPr lang="en-GB" dirty="0"/>
          </a:p>
          <a:p>
            <a:pPr marL="0" indent="0">
              <a:buNone/>
            </a:pPr>
            <a:r>
              <a:rPr lang="en-GB" dirty="0"/>
              <a:t>This table shows the output generated by the comfort monitoring service. Most zones remain within acceptable comfort levels. However, the conference room exceeds the threshold and receives a high-risk classification.</a:t>
            </a:r>
          </a:p>
          <a:p>
            <a:pPr marL="0" indent="0">
              <a:buNone/>
            </a:pPr>
            <a:endParaRPr dirty="0"/>
          </a:p>
        </p:txBody>
      </p:sp>
      <p:graphicFrame>
        <p:nvGraphicFramePr>
          <p:cNvPr id="4" name="Table 3">
            <a:extLst>
              <a:ext uri="{FF2B5EF4-FFF2-40B4-BE49-F238E27FC236}">
                <a16:creationId xmlns:a16="http://schemas.microsoft.com/office/drawing/2014/main" id="{BE113380-B221-4AB5-8685-96CDBC7644ED}"/>
              </a:ext>
            </a:extLst>
          </p:cNvPr>
          <p:cNvGraphicFramePr>
            <a:graphicFrameLocks noGrp="1"/>
          </p:cNvGraphicFramePr>
          <p:nvPr>
            <p:extLst>
              <p:ext uri="{D42A27DB-BD31-4B8C-83A1-F6EECF244321}">
                <p14:modId xmlns:p14="http://schemas.microsoft.com/office/powerpoint/2010/main" val="3537659459"/>
              </p:ext>
            </p:extLst>
          </p:nvPr>
        </p:nvGraphicFramePr>
        <p:xfrm>
          <a:off x="1089660" y="1417638"/>
          <a:ext cx="6703060" cy="1028700"/>
        </p:xfrm>
        <a:graphic>
          <a:graphicData uri="http://schemas.openxmlformats.org/drawingml/2006/table">
            <a:tbl>
              <a:tblPr firstRow="1" firstCol="1" bandRow="1">
                <a:tableStyleId>{5C22544A-7EE6-4342-B048-85BDC9FD1C3A}</a:tableStyleId>
              </a:tblPr>
              <a:tblGrid>
                <a:gridCol w="1675765">
                  <a:extLst>
                    <a:ext uri="{9D8B030D-6E8A-4147-A177-3AD203B41FA5}">
                      <a16:colId xmlns:a16="http://schemas.microsoft.com/office/drawing/2014/main" val="3908909461"/>
                    </a:ext>
                  </a:extLst>
                </a:gridCol>
                <a:gridCol w="1675765">
                  <a:extLst>
                    <a:ext uri="{9D8B030D-6E8A-4147-A177-3AD203B41FA5}">
                      <a16:colId xmlns:a16="http://schemas.microsoft.com/office/drawing/2014/main" val="3400558263"/>
                    </a:ext>
                  </a:extLst>
                </a:gridCol>
                <a:gridCol w="1675765">
                  <a:extLst>
                    <a:ext uri="{9D8B030D-6E8A-4147-A177-3AD203B41FA5}">
                      <a16:colId xmlns:a16="http://schemas.microsoft.com/office/drawing/2014/main" val="4222687576"/>
                    </a:ext>
                  </a:extLst>
                </a:gridCol>
                <a:gridCol w="1675765">
                  <a:extLst>
                    <a:ext uri="{9D8B030D-6E8A-4147-A177-3AD203B41FA5}">
                      <a16:colId xmlns:a16="http://schemas.microsoft.com/office/drawing/2014/main" val="2032233962"/>
                    </a:ext>
                  </a:extLst>
                </a:gridCol>
              </a:tblGrid>
              <a:tr h="257175">
                <a:tc>
                  <a:txBody>
                    <a:bodyPr/>
                    <a:lstStyle/>
                    <a:p>
                      <a:pPr>
                        <a:lnSpc>
                          <a:spcPct val="107000"/>
                        </a:lnSpc>
                        <a:spcAft>
                          <a:spcPts val="0"/>
                        </a:spcAft>
                      </a:pPr>
                      <a:r>
                        <a:rPr lang="en-GB" sz="1100">
                          <a:effectLst/>
                        </a:rPr>
                        <a:t>Zone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Temperature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Threshold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Risk Level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8568333"/>
                  </a:ext>
                </a:extLst>
              </a:tr>
              <a:tr h="257175">
                <a:tc>
                  <a:txBody>
                    <a:bodyPr/>
                    <a:lstStyle/>
                    <a:p>
                      <a:pPr>
                        <a:lnSpc>
                          <a:spcPct val="107000"/>
                        </a:lnSpc>
                        <a:spcAft>
                          <a:spcPts val="0"/>
                        </a:spcAft>
                      </a:pPr>
                      <a:r>
                        <a:rPr lang="en-GB" sz="1100">
                          <a:effectLst/>
                        </a:rPr>
                        <a:t>Lobby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73°F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75°F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Low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8988498"/>
                  </a:ext>
                </a:extLst>
              </a:tr>
              <a:tr h="257175">
                <a:tc>
                  <a:txBody>
                    <a:bodyPr/>
                    <a:lstStyle/>
                    <a:p>
                      <a:pPr>
                        <a:lnSpc>
                          <a:spcPct val="107000"/>
                        </a:lnSpc>
                        <a:spcAft>
                          <a:spcPts val="0"/>
                        </a:spcAft>
                      </a:pPr>
                      <a:r>
                        <a:rPr lang="en-GB" sz="1100">
                          <a:effectLst/>
                        </a:rPr>
                        <a:t>Conference Room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74°F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75°F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Low</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7898263"/>
                  </a:ext>
                </a:extLst>
              </a:tr>
              <a:tr h="257175">
                <a:tc>
                  <a:txBody>
                    <a:bodyPr/>
                    <a:lstStyle/>
                    <a:p>
                      <a:pPr>
                        <a:lnSpc>
                          <a:spcPct val="107000"/>
                        </a:lnSpc>
                        <a:spcAft>
                          <a:spcPts val="0"/>
                        </a:spcAft>
                      </a:pPr>
                      <a:r>
                        <a:rPr lang="en-GB" sz="1100">
                          <a:effectLst/>
                        </a:rPr>
                        <a:t>Office Area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79°F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75°F</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dirty="0">
                          <a:effectLst/>
                        </a:rPr>
                        <a:t>High</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286693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14082"/>
          </a:xfrm>
        </p:spPr>
        <p:txBody>
          <a:bodyPr>
            <a:normAutofit fontScale="90000"/>
          </a:bodyPr>
          <a:lstStyle/>
          <a:p>
            <a:r>
              <a:rPr b="1" dirty="0"/>
              <a:t>Use Case 8 – Explain Recommendation</a:t>
            </a:r>
          </a:p>
        </p:txBody>
      </p:sp>
      <p:sp>
        <p:nvSpPr>
          <p:cNvPr id="3" name="Content Placeholder 2"/>
          <p:cNvSpPr>
            <a:spLocks noGrp="1"/>
          </p:cNvSpPr>
          <p:nvPr>
            <p:ph idx="1"/>
          </p:nvPr>
        </p:nvSpPr>
        <p:spPr>
          <a:xfrm>
            <a:off x="213360" y="1600200"/>
            <a:ext cx="8778240" cy="5064760"/>
          </a:xfrm>
        </p:spPr>
        <p:txBody>
          <a:bodyPr>
            <a:normAutofit fontScale="77500" lnSpcReduction="20000"/>
          </a:bodyPr>
          <a:lstStyle/>
          <a:p>
            <a:r>
              <a:rPr dirty="0"/>
              <a:t>Example Recommendation:</a:t>
            </a:r>
          </a:p>
          <a:p>
            <a:r>
              <a:rPr dirty="0"/>
              <a:t>Increase HVAC setpoint from 72°F to 74°F.</a:t>
            </a:r>
          </a:p>
          <a:p>
            <a:endParaRPr dirty="0"/>
          </a:p>
          <a:p>
            <a:pPr marL="0" indent="0">
              <a:buNone/>
            </a:pPr>
            <a:r>
              <a:rPr b="1" dirty="0"/>
              <a:t>Information Used:</a:t>
            </a:r>
          </a:p>
          <a:p>
            <a:pPr marL="0" indent="0">
              <a:buNone/>
            </a:pPr>
            <a:r>
              <a:rPr dirty="0"/>
              <a:t>• Occupancy Forecast</a:t>
            </a:r>
          </a:p>
          <a:p>
            <a:pPr marL="0" indent="0">
              <a:buNone/>
            </a:pPr>
            <a:r>
              <a:rPr dirty="0"/>
              <a:t>• Weather Forecast</a:t>
            </a:r>
          </a:p>
          <a:p>
            <a:pPr marL="0" indent="0">
              <a:buNone/>
            </a:pPr>
            <a:r>
              <a:rPr dirty="0"/>
              <a:t>• Comfort Constraints</a:t>
            </a:r>
          </a:p>
          <a:p>
            <a:pPr marL="0" indent="0">
              <a:buNone/>
            </a:pPr>
            <a:r>
              <a:rPr dirty="0"/>
              <a:t>• Energy Demand Forecast</a:t>
            </a:r>
            <a:endParaRPr lang="en-GB" dirty="0"/>
          </a:p>
          <a:p>
            <a:pPr marL="0" indent="0">
              <a:buNone/>
            </a:pPr>
            <a:endParaRPr lang="en-GB" dirty="0"/>
          </a:p>
          <a:p>
            <a:pPr marL="0" indent="0">
              <a:buNone/>
            </a:pPr>
            <a:r>
              <a:rPr lang="en-GB" dirty="0"/>
              <a:t>Use Case 8 focuses on transparency and trust. Facility managers often want to understand why a recommendation was generated before approving it. The system retrieves all relevant information and generates a human-readable explanation.</a:t>
            </a:r>
          </a:p>
          <a:p>
            <a:pPr mar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0882"/>
          </a:xfrm>
        </p:spPr>
        <p:txBody>
          <a:bodyPr>
            <a:normAutofit fontScale="90000"/>
          </a:bodyPr>
          <a:lstStyle/>
          <a:p>
            <a:r>
              <a:rPr b="1" dirty="0"/>
              <a:t>UC8 Demonstration</a:t>
            </a:r>
          </a:p>
        </p:txBody>
      </p:sp>
      <p:sp>
        <p:nvSpPr>
          <p:cNvPr id="3" name="Content Placeholder 2"/>
          <p:cNvSpPr>
            <a:spLocks noGrp="1"/>
          </p:cNvSpPr>
          <p:nvPr>
            <p:ph idx="1"/>
          </p:nvPr>
        </p:nvSpPr>
        <p:spPr>
          <a:xfrm>
            <a:off x="213360" y="1600200"/>
            <a:ext cx="8849360" cy="5146040"/>
          </a:xfrm>
        </p:spPr>
        <p:txBody>
          <a:bodyPr>
            <a:normAutofit fontScale="85000" lnSpcReduction="20000"/>
          </a:bodyPr>
          <a:lstStyle/>
          <a:p>
            <a:r>
              <a:rPr dirty="0"/>
              <a:t>Recommendation: Increase Lobby Setpoint from 72°F to 74°F</a:t>
            </a:r>
          </a:p>
          <a:p>
            <a:endParaRPr dirty="0"/>
          </a:p>
          <a:p>
            <a:pPr marL="0" indent="0">
              <a:buNone/>
            </a:pPr>
            <a:r>
              <a:rPr b="1" dirty="0"/>
              <a:t>Reasoning:</a:t>
            </a:r>
          </a:p>
          <a:p>
            <a:pPr marL="0" indent="0">
              <a:buNone/>
            </a:pPr>
            <a:r>
              <a:rPr dirty="0"/>
              <a:t>• Occupancy expected to decrease by 40%</a:t>
            </a:r>
          </a:p>
          <a:p>
            <a:pPr marL="0" indent="0">
              <a:buNone/>
            </a:pPr>
            <a:r>
              <a:rPr dirty="0"/>
              <a:t>• Outdoor temperature remains moderate</a:t>
            </a:r>
          </a:p>
          <a:p>
            <a:pPr marL="0" indent="0">
              <a:buNone/>
            </a:pPr>
            <a:r>
              <a:rPr dirty="0"/>
              <a:t>• Comfort threshold remains satisfied</a:t>
            </a:r>
          </a:p>
          <a:p>
            <a:pPr marL="0" indent="0">
              <a:buNone/>
            </a:pPr>
            <a:r>
              <a:rPr dirty="0"/>
              <a:t>• Estimated energy savings of 12%</a:t>
            </a:r>
            <a:endParaRPr lang="en-GB" dirty="0"/>
          </a:p>
          <a:p>
            <a:pPr marL="0" indent="0">
              <a:buNone/>
            </a:pPr>
            <a:endParaRPr lang="en-GB" dirty="0"/>
          </a:p>
          <a:p>
            <a:pPr marL="0" indent="0">
              <a:buNone/>
            </a:pPr>
            <a:r>
              <a:rPr lang="en-GB" dirty="0"/>
              <a:t>In this example, the system recommends increasing the lobby temperature setpoint by two degrees. The explanation clearly states why the recommendation is being made and the expected benefits.</a:t>
            </a:r>
          </a:p>
          <a:p>
            <a:pPr marL="0" indent="0">
              <a:buNone/>
            </a:pPr>
            <a:endParaRPr dirty="0"/>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03922"/>
          </a:xfrm>
        </p:spPr>
        <p:txBody>
          <a:bodyPr>
            <a:normAutofit fontScale="90000"/>
          </a:bodyPr>
          <a:lstStyle/>
          <a:p>
            <a:r>
              <a:rPr b="1" dirty="0"/>
              <a:t>Use Case 9 – Generate Daily Savings Report</a:t>
            </a:r>
          </a:p>
        </p:txBody>
      </p:sp>
      <p:sp>
        <p:nvSpPr>
          <p:cNvPr id="3" name="Content Placeholder 2"/>
          <p:cNvSpPr>
            <a:spLocks noGrp="1"/>
          </p:cNvSpPr>
          <p:nvPr>
            <p:ph idx="1"/>
          </p:nvPr>
        </p:nvSpPr>
        <p:spPr>
          <a:xfrm>
            <a:off x="152400" y="1600200"/>
            <a:ext cx="8768080" cy="5125720"/>
          </a:xfrm>
        </p:spPr>
        <p:txBody>
          <a:bodyPr>
            <a:normAutofit fontScale="92500" lnSpcReduction="10000"/>
          </a:bodyPr>
          <a:lstStyle/>
          <a:p>
            <a:pPr marL="0" indent="0">
              <a:buNone/>
            </a:pPr>
            <a:r>
              <a:rPr dirty="0"/>
              <a:t>Report Includes:</a:t>
            </a:r>
          </a:p>
          <a:p>
            <a:pPr marL="0" indent="0">
              <a:buNone/>
            </a:pPr>
            <a:r>
              <a:rPr dirty="0"/>
              <a:t>• Baseline Energy Usage</a:t>
            </a:r>
          </a:p>
          <a:p>
            <a:pPr marL="0" indent="0">
              <a:buNone/>
            </a:pPr>
            <a:r>
              <a:rPr dirty="0"/>
              <a:t>• Optimized Energy Usage</a:t>
            </a:r>
          </a:p>
          <a:p>
            <a:pPr marL="0" indent="0">
              <a:buNone/>
            </a:pPr>
            <a:r>
              <a:rPr dirty="0"/>
              <a:t>• Total Savings</a:t>
            </a:r>
          </a:p>
          <a:p>
            <a:pPr marL="0" indent="0">
              <a:buNone/>
            </a:pPr>
            <a:r>
              <a:rPr dirty="0"/>
              <a:t>• Percentage Savings</a:t>
            </a:r>
            <a:endParaRPr lang="en-GB" dirty="0"/>
          </a:p>
          <a:p>
            <a:pPr marL="0" indent="0">
              <a:buNone/>
            </a:pPr>
            <a:endParaRPr lang="en-GB" dirty="0"/>
          </a:p>
          <a:p>
            <a:pPr marL="0" indent="0">
              <a:buNone/>
            </a:pPr>
            <a:r>
              <a:rPr lang="en-GB" dirty="0"/>
              <a:t>The purpose of Use Case 9 is to quantify the value delivered by the optimization system. The reporting service compares actual energy consumption against baseline consumption and calculates savings metrics.</a:t>
            </a:r>
          </a:p>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b="1" dirty="0"/>
              <a:t>UC9 Demonstration</a:t>
            </a:r>
          </a:p>
        </p:txBody>
      </p:sp>
      <p:sp>
        <p:nvSpPr>
          <p:cNvPr id="3" name="Content Placeholder 2"/>
          <p:cNvSpPr>
            <a:spLocks noGrp="1"/>
          </p:cNvSpPr>
          <p:nvPr>
            <p:ph idx="1"/>
          </p:nvPr>
        </p:nvSpPr>
        <p:spPr>
          <a:xfrm>
            <a:off x="162560" y="1600200"/>
            <a:ext cx="8808720" cy="5095240"/>
          </a:xfrm>
        </p:spPr>
        <p:txBody>
          <a:bodyPr>
            <a:normAutofit fontScale="92500" lnSpcReduction="10000"/>
          </a:bodyPr>
          <a:lstStyle/>
          <a:p>
            <a:r>
              <a:rPr dirty="0"/>
              <a:t>Baseline Usage: 1,250 kWh</a:t>
            </a:r>
          </a:p>
          <a:p>
            <a:r>
              <a:rPr dirty="0"/>
              <a:t>Optimized Usage: 1,080 kWh</a:t>
            </a:r>
          </a:p>
          <a:p>
            <a:r>
              <a:rPr dirty="0"/>
              <a:t>Energy Saved: 170 kWh</a:t>
            </a:r>
          </a:p>
          <a:p>
            <a:r>
              <a:rPr dirty="0"/>
              <a:t>Savings Percentage: 13.6%</a:t>
            </a:r>
          </a:p>
          <a:p>
            <a:r>
              <a:rPr dirty="0"/>
              <a:t>Estimated Daily Cost Savings: $28.50</a:t>
            </a:r>
            <a:endParaRPr lang="en-GB" dirty="0"/>
          </a:p>
          <a:p>
            <a:endParaRPr lang="en-GB" dirty="0"/>
          </a:p>
          <a:p>
            <a:pPr marL="0" indent="0">
              <a:buNone/>
            </a:pPr>
            <a:r>
              <a:rPr lang="en-GB" dirty="0"/>
              <a:t>This report shows the measurable impact of optimization. Consumption decreased from 1,250 to 1,080 kilowatt-hours, resulting in significant energy and cost savings.</a:t>
            </a:r>
          </a:p>
          <a:p>
            <a:endParaRPr dirty="0"/>
          </a:p>
          <a:p>
            <a:endParaRPr lang="en-GB" dirty="0"/>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3" name="Content Placeholder 2"/>
          <p:cNvSpPr>
            <a:spLocks noGrp="1"/>
          </p:cNvSpPr>
          <p:nvPr>
            <p:ph idx="1"/>
          </p:nvPr>
        </p:nvSpPr>
        <p:spPr>
          <a:xfrm>
            <a:off x="182880" y="1600200"/>
            <a:ext cx="8788400" cy="5257800"/>
          </a:xfrm>
        </p:spPr>
        <p:txBody>
          <a:bodyPr>
            <a:normAutofit lnSpcReduction="10000"/>
          </a:bodyPr>
          <a:lstStyle/>
          <a:p>
            <a:pPr marL="0" indent="0">
              <a:buNone/>
            </a:pPr>
            <a:r>
              <a:rPr dirty="0"/>
              <a:t>✓ UC4.7 – Detect Comfort Violation Risk</a:t>
            </a:r>
          </a:p>
          <a:p>
            <a:pPr marL="0" indent="0">
              <a:buNone/>
            </a:pPr>
            <a:r>
              <a:rPr dirty="0"/>
              <a:t>✓ UC4.8 – Explain Recommendation</a:t>
            </a:r>
          </a:p>
          <a:p>
            <a:pPr marL="0" indent="0">
              <a:buNone/>
            </a:pPr>
            <a:r>
              <a:rPr dirty="0"/>
              <a:t>✓ UC4.9 – Generate Daily Savings Report</a:t>
            </a:r>
            <a:endParaRPr lang="en-GB" dirty="0"/>
          </a:p>
          <a:p>
            <a:endParaRPr lang="en-GB" dirty="0"/>
          </a:p>
          <a:p>
            <a:pPr marL="0" indent="0">
              <a:buNone/>
            </a:pPr>
            <a:r>
              <a:rPr lang="en-GB" dirty="0"/>
              <a:t>In conclusion, today's demonstration showed proactive comfort monitoring, explainable recommendations, and measurable energy savings. Together, these capabilities improve transparency, maintain occupant comfort, and demonstrate the value of intelligent energy optimization. Thank you.</a:t>
            </a:r>
          </a:p>
          <a:p>
            <a:endParaRPr dirty="0"/>
          </a:p>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935</Words>
  <Application>Microsoft Office PowerPoint</Application>
  <PresentationFormat>On-screen Show (4:3)</PresentationFormat>
  <Paragraphs>128</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Introduction</vt:lpstr>
      <vt:lpstr>Project Overview</vt:lpstr>
      <vt:lpstr>Demonstration Scope</vt:lpstr>
      <vt:lpstr>System Architecture</vt:lpstr>
      <vt:lpstr>Use Case 7 – Detect Comfort Violation Risk</vt:lpstr>
      <vt:lpstr>UC7 Demonstration</vt:lpstr>
      <vt:lpstr>Comfort Risk Results</vt:lpstr>
      <vt:lpstr>Use Case 8 – Explain Recommendation</vt:lpstr>
      <vt:lpstr>UC8 Demonstration</vt:lpstr>
      <vt:lpstr>Use Case 9 – Generate Daily Savings Report</vt:lpstr>
      <vt:lpstr>UC9 Demonstration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Stephanie</cp:lastModifiedBy>
  <cp:revision>7</cp:revision>
  <dcterms:created xsi:type="dcterms:W3CDTF">2013-01-27T09:14:16Z</dcterms:created>
  <dcterms:modified xsi:type="dcterms:W3CDTF">2026-06-15T20:54:32Z</dcterms:modified>
  <cp:category/>
</cp:coreProperties>
</file>