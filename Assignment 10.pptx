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EFD73-E303-4D2B-A9E4-EFD0BCB873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F83F976-FA8F-4DB9-AB06-11811B60DC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DC91C27-4647-440C-AAC1-CC8FF7CFDB1B}"/>
              </a:ext>
            </a:extLst>
          </p:cNvPr>
          <p:cNvSpPr>
            <a:spLocks noGrp="1"/>
          </p:cNvSpPr>
          <p:nvPr>
            <p:ph type="dt" sz="half" idx="10"/>
          </p:nvPr>
        </p:nvSpPr>
        <p:spPr/>
        <p:txBody>
          <a:bodyPr/>
          <a:lstStyle/>
          <a:p>
            <a:fld id="{E3856891-E2D1-4CE5-BC76-4AF45E441FEC}" type="datetimeFigureOut">
              <a:rPr lang="en-GB" smtClean="0"/>
              <a:t>15/06/2026</a:t>
            </a:fld>
            <a:endParaRPr lang="en-GB"/>
          </a:p>
        </p:txBody>
      </p:sp>
      <p:sp>
        <p:nvSpPr>
          <p:cNvPr id="5" name="Footer Placeholder 4">
            <a:extLst>
              <a:ext uri="{FF2B5EF4-FFF2-40B4-BE49-F238E27FC236}">
                <a16:creationId xmlns:a16="http://schemas.microsoft.com/office/drawing/2014/main" id="{21EB5520-AECA-4831-85A6-D8F74E3932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B47C959-7AA7-4132-A7C5-5D9F8A70B29C}"/>
              </a:ext>
            </a:extLst>
          </p:cNvPr>
          <p:cNvSpPr>
            <a:spLocks noGrp="1"/>
          </p:cNvSpPr>
          <p:nvPr>
            <p:ph type="sldNum" sz="quarter" idx="12"/>
          </p:nvPr>
        </p:nvSpPr>
        <p:spPr/>
        <p:txBody>
          <a:bodyPr/>
          <a:lstStyle/>
          <a:p>
            <a:fld id="{759EC87E-84A4-4DFB-947B-E8F007D9B860}" type="slidenum">
              <a:rPr lang="en-GB" smtClean="0"/>
              <a:t>‹#›</a:t>
            </a:fld>
            <a:endParaRPr lang="en-GB"/>
          </a:p>
        </p:txBody>
      </p:sp>
    </p:spTree>
    <p:extLst>
      <p:ext uri="{BB962C8B-B14F-4D97-AF65-F5344CB8AC3E}">
        <p14:creationId xmlns:p14="http://schemas.microsoft.com/office/powerpoint/2010/main" val="675988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EFEB1-9533-49E2-8BB4-FE156165924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26FB323-443E-4C4C-9F8D-55C6985CFC1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3E73385-9B39-4585-9EB9-86E098CE8D59}"/>
              </a:ext>
            </a:extLst>
          </p:cNvPr>
          <p:cNvSpPr>
            <a:spLocks noGrp="1"/>
          </p:cNvSpPr>
          <p:nvPr>
            <p:ph type="dt" sz="half" idx="10"/>
          </p:nvPr>
        </p:nvSpPr>
        <p:spPr/>
        <p:txBody>
          <a:bodyPr/>
          <a:lstStyle/>
          <a:p>
            <a:fld id="{E3856891-E2D1-4CE5-BC76-4AF45E441FEC}" type="datetimeFigureOut">
              <a:rPr lang="en-GB" smtClean="0"/>
              <a:t>15/06/2026</a:t>
            </a:fld>
            <a:endParaRPr lang="en-GB"/>
          </a:p>
        </p:txBody>
      </p:sp>
      <p:sp>
        <p:nvSpPr>
          <p:cNvPr id="5" name="Footer Placeholder 4">
            <a:extLst>
              <a:ext uri="{FF2B5EF4-FFF2-40B4-BE49-F238E27FC236}">
                <a16:creationId xmlns:a16="http://schemas.microsoft.com/office/drawing/2014/main" id="{F0AEC6CD-AED0-40AA-A6A2-63D3521111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DA70B38-CEDB-4086-9E4D-FB9AE71DD734}"/>
              </a:ext>
            </a:extLst>
          </p:cNvPr>
          <p:cNvSpPr>
            <a:spLocks noGrp="1"/>
          </p:cNvSpPr>
          <p:nvPr>
            <p:ph type="sldNum" sz="quarter" idx="12"/>
          </p:nvPr>
        </p:nvSpPr>
        <p:spPr/>
        <p:txBody>
          <a:bodyPr/>
          <a:lstStyle/>
          <a:p>
            <a:fld id="{759EC87E-84A4-4DFB-947B-E8F007D9B860}" type="slidenum">
              <a:rPr lang="en-GB" smtClean="0"/>
              <a:t>‹#›</a:t>
            </a:fld>
            <a:endParaRPr lang="en-GB"/>
          </a:p>
        </p:txBody>
      </p:sp>
    </p:spTree>
    <p:extLst>
      <p:ext uri="{BB962C8B-B14F-4D97-AF65-F5344CB8AC3E}">
        <p14:creationId xmlns:p14="http://schemas.microsoft.com/office/powerpoint/2010/main" val="2018961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6D497-0781-4CE5-A330-7D5595CF28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1D0F749-EE15-449A-8BD8-40D26030FB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A19DEC8-2B6C-48F4-8577-E392AB8EF9D7}"/>
              </a:ext>
            </a:extLst>
          </p:cNvPr>
          <p:cNvSpPr>
            <a:spLocks noGrp="1"/>
          </p:cNvSpPr>
          <p:nvPr>
            <p:ph type="dt" sz="half" idx="10"/>
          </p:nvPr>
        </p:nvSpPr>
        <p:spPr/>
        <p:txBody>
          <a:bodyPr/>
          <a:lstStyle/>
          <a:p>
            <a:fld id="{E3856891-E2D1-4CE5-BC76-4AF45E441FEC}" type="datetimeFigureOut">
              <a:rPr lang="en-GB" smtClean="0"/>
              <a:t>15/06/2026</a:t>
            </a:fld>
            <a:endParaRPr lang="en-GB"/>
          </a:p>
        </p:txBody>
      </p:sp>
      <p:sp>
        <p:nvSpPr>
          <p:cNvPr id="5" name="Footer Placeholder 4">
            <a:extLst>
              <a:ext uri="{FF2B5EF4-FFF2-40B4-BE49-F238E27FC236}">
                <a16:creationId xmlns:a16="http://schemas.microsoft.com/office/drawing/2014/main" id="{A3513970-94F8-41BC-9406-AD6880C799D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87C844F-F621-4A37-8E12-FE4990A8C88D}"/>
              </a:ext>
            </a:extLst>
          </p:cNvPr>
          <p:cNvSpPr>
            <a:spLocks noGrp="1"/>
          </p:cNvSpPr>
          <p:nvPr>
            <p:ph type="sldNum" sz="quarter" idx="12"/>
          </p:nvPr>
        </p:nvSpPr>
        <p:spPr/>
        <p:txBody>
          <a:bodyPr/>
          <a:lstStyle/>
          <a:p>
            <a:fld id="{759EC87E-84A4-4DFB-947B-E8F007D9B860}" type="slidenum">
              <a:rPr lang="en-GB" smtClean="0"/>
              <a:t>‹#›</a:t>
            </a:fld>
            <a:endParaRPr lang="en-GB"/>
          </a:p>
        </p:txBody>
      </p:sp>
    </p:spTree>
    <p:extLst>
      <p:ext uri="{BB962C8B-B14F-4D97-AF65-F5344CB8AC3E}">
        <p14:creationId xmlns:p14="http://schemas.microsoft.com/office/powerpoint/2010/main" val="4087566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93712-5085-4A70-99D4-E4A676634B3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B0BED6A-F6AD-4437-B01B-F4E74A4D0E8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97322B5-76D9-4163-8DDF-35AB0D18E52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3729A0A-E079-4215-9041-B1E63D082C58}"/>
              </a:ext>
            </a:extLst>
          </p:cNvPr>
          <p:cNvSpPr>
            <a:spLocks noGrp="1"/>
          </p:cNvSpPr>
          <p:nvPr>
            <p:ph type="dt" sz="half" idx="10"/>
          </p:nvPr>
        </p:nvSpPr>
        <p:spPr/>
        <p:txBody>
          <a:bodyPr/>
          <a:lstStyle/>
          <a:p>
            <a:fld id="{E3856891-E2D1-4CE5-BC76-4AF45E441FEC}" type="datetimeFigureOut">
              <a:rPr lang="en-GB" smtClean="0"/>
              <a:t>15/06/2026</a:t>
            </a:fld>
            <a:endParaRPr lang="en-GB"/>
          </a:p>
        </p:txBody>
      </p:sp>
      <p:sp>
        <p:nvSpPr>
          <p:cNvPr id="6" name="Footer Placeholder 5">
            <a:extLst>
              <a:ext uri="{FF2B5EF4-FFF2-40B4-BE49-F238E27FC236}">
                <a16:creationId xmlns:a16="http://schemas.microsoft.com/office/drawing/2014/main" id="{89836BD4-04F0-4BEA-AA7D-26F1EACC710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6418F30-C89F-48C1-954D-8168CF285BA5}"/>
              </a:ext>
            </a:extLst>
          </p:cNvPr>
          <p:cNvSpPr>
            <a:spLocks noGrp="1"/>
          </p:cNvSpPr>
          <p:nvPr>
            <p:ph type="sldNum" sz="quarter" idx="12"/>
          </p:nvPr>
        </p:nvSpPr>
        <p:spPr/>
        <p:txBody>
          <a:bodyPr/>
          <a:lstStyle/>
          <a:p>
            <a:fld id="{759EC87E-84A4-4DFB-947B-E8F007D9B860}" type="slidenum">
              <a:rPr lang="en-GB" smtClean="0"/>
              <a:t>‹#›</a:t>
            </a:fld>
            <a:endParaRPr lang="en-GB"/>
          </a:p>
        </p:txBody>
      </p:sp>
    </p:spTree>
    <p:extLst>
      <p:ext uri="{BB962C8B-B14F-4D97-AF65-F5344CB8AC3E}">
        <p14:creationId xmlns:p14="http://schemas.microsoft.com/office/powerpoint/2010/main" val="1828921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531B3-8436-45C0-95F9-DDC14CE584C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2435876-2705-4D2B-83EA-886C026A25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9265A76-7D35-4452-B51C-26B02E38308A}"/>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427D519-4609-43B3-9517-72F32816B4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900BD3D-078A-47FB-8107-C1BD2B0C108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8AC162A-F0F4-4CDF-A065-A96F009299B3}"/>
              </a:ext>
            </a:extLst>
          </p:cNvPr>
          <p:cNvSpPr>
            <a:spLocks noGrp="1"/>
          </p:cNvSpPr>
          <p:nvPr>
            <p:ph type="dt" sz="half" idx="10"/>
          </p:nvPr>
        </p:nvSpPr>
        <p:spPr/>
        <p:txBody>
          <a:bodyPr/>
          <a:lstStyle/>
          <a:p>
            <a:fld id="{E3856891-E2D1-4CE5-BC76-4AF45E441FEC}" type="datetimeFigureOut">
              <a:rPr lang="en-GB" smtClean="0"/>
              <a:t>15/06/2026</a:t>
            </a:fld>
            <a:endParaRPr lang="en-GB"/>
          </a:p>
        </p:txBody>
      </p:sp>
      <p:sp>
        <p:nvSpPr>
          <p:cNvPr id="8" name="Footer Placeholder 7">
            <a:extLst>
              <a:ext uri="{FF2B5EF4-FFF2-40B4-BE49-F238E27FC236}">
                <a16:creationId xmlns:a16="http://schemas.microsoft.com/office/drawing/2014/main" id="{3ECA8EAF-1E34-418C-BE39-D1F35BE694D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67C88BC-761E-4FF1-9CE3-A592D135C25D}"/>
              </a:ext>
            </a:extLst>
          </p:cNvPr>
          <p:cNvSpPr>
            <a:spLocks noGrp="1"/>
          </p:cNvSpPr>
          <p:nvPr>
            <p:ph type="sldNum" sz="quarter" idx="12"/>
          </p:nvPr>
        </p:nvSpPr>
        <p:spPr/>
        <p:txBody>
          <a:bodyPr/>
          <a:lstStyle/>
          <a:p>
            <a:fld id="{759EC87E-84A4-4DFB-947B-E8F007D9B860}" type="slidenum">
              <a:rPr lang="en-GB" smtClean="0"/>
              <a:t>‹#›</a:t>
            </a:fld>
            <a:endParaRPr lang="en-GB"/>
          </a:p>
        </p:txBody>
      </p:sp>
    </p:spTree>
    <p:extLst>
      <p:ext uri="{BB962C8B-B14F-4D97-AF65-F5344CB8AC3E}">
        <p14:creationId xmlns:p14="http://schemas.microsoft.com/office/powerpoint/2010/main" val="2025600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7A36-6AED-43FE-8BA0-4637D7E64C3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5A5AEB1-5F66-4D95-808B-14485CB59061}"/>
              </a:ext>
            </a:extLst>
          </p:cNvPr>
          <p:cNvSpPr>
            <a:spLocks noGrp="1"/>
          </p:cNvSpPr>
          <p:nvPr>
            <p:ph type="dt" sz="half" idx="10"/>
          </p:nvPr>
        </p:nvSpPr>
        <p:spPr/>
        <p:txBody>
          <a:bodyPr/>
          <a:lstStyle/>
          <a:p>
            <a:fld id="{E3856891-E2D1-4CE5-BC76-4AF45E441FEC}" type="datetimeFigureOut">
              <a:rPr lang="en-GB" smtClean="0"/>
              <a:t>15/06/2026</a:t>
            </a:fld>
            <a:endParaRPr lang="en-GB"/>
          </a:p>
        </p:txBody>
      </p:sp>
      <p:sp>
        <p:nvSpPr>
          <p:cNvPr id="4" name="Footer Placeholder 3">
            <a:extLst>
              <a:ext uri="{FF2B5EF4-FFF2-40B4-BE49-F238E27FC236}">
                <a16:creationId xmlns:a16="http://schemas.microsoft.com/office/drawing/2014/main" id="{B4F50D7B-CC70-40A0-A950-74B4A9483D7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7372717-5F17-4A07-AE84-98B7ED64D4C3}"/>
              </a:ext>
            </a:extLst>
          </p:cNvPr>
          <p:cNvSpPr>
            <a:spLocks noGrp="1"/>
          </p:cNvSpPr>
          <p:nvPr>
            <p:ph type="sldNum" sz="quarter" idx="12"/>
          </p:nvPr>
        </p:nvSpPr>
        <p:spPr/>
        <p:txBody>
          <a:bodyPr/>
          <a:lstStyle/>
          <a:p>
            <a:fld id="{759EC87E-84A4-4DFB-947B-E8F007D9B860}" type="slidenum">
              <a:rPr lang="en-GB" smtClean="0"/>
              <a:t>‹#›</a:t>
            </a:fld>
            <a:endParaRPr lang="en-GB"/>
          </a:p>
        </p:txBody>
      </p:sp>
    </p:spTree>
    <p:extLst>
      <p:ext uri="{BB962C8B-B14F-4D97-AF65-F5344CB8AC3E}">
        <p14:creationId xmlns:p14="http://schemas.microsoft.com/office/powerpoint/2010/main" val="3580484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EBB186-72BA-45B7-9BB5-57A47FD56E96}"/>
              </a:ext>
            </a:extLst>
          </p:cNvPr>
          <p:cNvSpPr>
            <a:spLocks noGrp="1"/>
          </p:cNvSpPr>
          <p:nvPr>
            <p:ph type="dt" sz="half" idx="10"/>
          </p:nvPr>
        </p:nvSpPr>
        <p:spPr/>
        <p:txBody>
          <a:bodyPr/>
          <a:lstStyle/>
          <a:p>
            <a:fld id="{E3856891-E2D1-4CE5-BC76-4AF45E441FEC}" type="datetimeFigureOut">
              <a:rPr lang="en-GB" smtClean="0"/>
              <a:t>15/06/2026</a:t>
            </a:fld>
            <a:endParaRPr lang="en-GB"/>
          </a:p>
        </p:txBody>
      </p:sp>
      <p:sp>
        <p:nvSpPr>
          <p:cNvPr id="3" name="Footer Placeholder 2">
            <a:extLst>
              <a:ext uri="{FF2B5EF4-FFF2-40B4-BE49-F238E27FC236}">
                <a16:creationId xmlns:a16="http://schemas.microsoft.com/office/drawing/2014/main" id="{1774D59A-2BA2-4FDF-B004-AED334ED0F6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E278649-B265-4476-95FF-A4BA320C2F99}"/>
              </a:ext>
            </a:extLst>
          </p:cNvPr>
          <p:cNvSpPr>
            <a:spLocks noGrp="1"/>
          </p:cNvSpPr>
          <p:nvPr>
            <p:ph type="sldNum" sz="quarter" idx="12"/>
          </p:nvPr>
        </p:nvSpPr>
        <p:spPr/>
        <p:txBody>
          <a:bodyPr/>
          <a:lstStyle/>
          <a:p>
            <a:fld id="{759EC87E-84A4-4DFB-947B-E8F007D9B860}" type="slidenum">
              <a:rPr lang="en-GB" smtClean="0"/>
              <a:t>‹#›</a:t>
            </a:fld>
            <a:endParaRPr lang="en-GB"/>
          </a:p>
        </p:txBody>
      </p:sp>
    </p:spTree>
    <p:extLst>
      <p:ext uri="{BB962C8B-B14F-4D97-AF65-F5344CB8AC3E}">
        <p14:creationId xmlns:p14="http://schemas.microsoft.com/office/powerpoint/2010/main" val="1652113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F60C4-1430-441E-A413-B9D279C31D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8D43D9D-2E19-41FA-AA83-284A19A02C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1EFA539-1409-46E5-85B2-3773F81178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E0EBA6B-7B0A-4443-A363-E93F2244851C}"/>
              </a:ext>
            </a:extLst>
          </p:cNvPr>
          <p:cNvSpPr>
            <a:spLocks noGrp="1"/>
          </p:cNvSpPr>
          <p:nvPr>
            <p:ph type="dt" sz="half" idx="10"/>
          </p:nvPr>
        </p:nvSpPr>
        <p:spPr/>
        <p:txBody>
          <a:bodyPr/>
          <a:lstStyle/>
          <a:p>
            <a:fld id="{E3856891-E2D1-4CE5-BC76-4AF45E441FEC}" type="datetimeFigureOut">
              <a:rPr lang="en-GB" smtClean="0"/>
              <a:t>15/06/2026</a:t>
            </a:fld>
            <a:endParaRPr lang="en-GB"/>
          </a:p>
        </p:txBody>
      </p:sp>
      <p:sp>
        <p:nvSpPr>
          <p:cNvPr id="6" name="Footer Placeholder 5">
            <a:extLst>
              <a:ext uri="{FF2B5EF4-FFF2-40B4-BE49-F238E27FC236}">
                <a16:creationId xmlns:a16="http://schemas.microsoft.com/office/drawing/2014/main" id="{E2C271B3-9959-46BD-A597-3D77F924790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BB3A4DF-DDC6-4EA5-B8ED-9F7846C73BE6}"/>
              </a:ext>
            </a:extLst>
          </p:cNvPr>
          <p:cNvSpPr>
            <a:spLocks noGrp="1"/>
          </p:cNvSpPr>
          <p:nvPr>
            <p:ph type="sldNum" sz="quarter" idx="12"/>
          </p:nvPr>
        </p:nvSpPr>
        <p:spPr/>
        <p:txBody>
          <a:bodyPr/>
          <a:lstStyle/>
          <a:p>
            <a:fld id="{759EC87E-84A4-4DFB-947B-E8F007D9B860}" type="slidenum">
              <a:rPr lang="en-GB" smtClean="0"/>
              <a:t>‹#›</a:t>
            </a:fld>
            <a:endParaRPr lang="en-GB"/>
          </a:p>
        </p:txBody>
      </p:sp>
    </p:spTree>
    <p:extLst>
      <p:ext uri="{BB962C8B-B14F-4D97-AF65-F5344CB8AC3E}">
        <p14:creationId xmlns:p14="http://schemas.microsoft.com/office/powerpoint/2010/main" val="3569365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18B2E-709E-403E-B104-C058EF0A0C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1DF9A85-A57D-451C-BC25-27D859EE3F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6948B90-6EA1-4B94-856B-BE05B86A61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7715905-6C93-452F-BF3D-3B0593BF733A}"/>
              </a:ext>
            </a:extLst>
          </p:cNvPr>
          <p:cNvSpPr>
            <a:spLocks noGrp="1"/>
          </p:cNvSpPr>
          <p:nvPr>
            <p:ph type="dt" sz="half" idx="10"/>
          </p:nvPr>
        </p:nvSpPr>
        <p:spPr/>
        <p:txBody>
          <a:bodyPr/>
          <a:lstStyle/>
          <a:p>
            <a:fld id="{E3856891-E2D1-4CE5-BC76-4AF45E441FEC}" type="datetimeFigureOut">
              <a:rPr lang="en-GB" smtClean="0"/>
              <a:t>15/06/2026</a:t>
            </a:fld>
            <a:endParaRPr lang="en-GB"/>
          </a:p>
        </p:txBody>
      </p:sp>
      <p:sp>
        <p:nvSpPr>
          <p:cNvPr id="6" name="Footer Placeholder 5">
            <a:extLst>
              <a:ext uri="{FF2B5EF4-FFF2-40B4-BE49-F238E27FC236}">
                <a16:creationId xmlns:a16="http://schemas.microsoft.com/office/drawing/2014/main" id="{6E7FC176-86E8-4395-B1F8-D5D6223EAE0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B9DB285-7656-4983-A155-2E8149D9B195}"/>
              </a:ext>
            </a:extLst>
          </p:cNvPr>
          <p:cNvSpPr>
            <a:spLocks noGrp="1"/>
          </p:cNvSpPr>
          <p:nvPr>
            <p:ph type="sldNum" sz="quarter" idx="12"/>
          </p:nvPr>
        </p:nvSpPr>
        <p:spPr/>
        <p:txBody>
          <a:bodyPr/>
          <a:lstStyle/>
          <a:p>
            <a:fld id="{759EC87E-84A4-4DFB-947B-E8F007D9B860}" type="slidenum">
              <a:rPr lang="en-GB" smtClean="0"/>
              <a:t>‹#›</a:t>
            </a:fld>
            <a:endParaRPr lang="en-GB"/>
          </a:p>
        </p:txBody>
      </p:sp>
    </p:spTree>
    <p:extLst>
      <p:ext uri="{BB962C8B-B14F-4D97-AF65-F5344CB8AC3E}">
        <p14:creationId xmlns:p14="http://schemas.microsoft.com/office/powerpoint/2010/main" val="924020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53A17-4A9D-48CB-A117-94F5C8A4D40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7238FBA-0AE6-4388-8C24-5873EA443DC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57BB380-FC8C-4CCA-BBE6-F059CF84A961}"/>
              </a:ext>
            </a:extLst>
          </p:cNvPr>
          <p:cNvSpPr>
            <a:spLocks noGrp="1"/>
          </p:cNvSpPr>
          <p:nvPr>
            <p:ph type="dt" sz="half" idx="10"/>
          </p:nvPr>
        </p:nvSpPr>
        <p:spPr/>
        <p:txBody>
          <a:bodyPr/>
          <a:lstStyle/>
          <a:p>
            <a:fld id="{E3856891-E2D1-4CE5-BC76-4AF45E441FEC}" type="datetimeFigureOut">
              <a:rPr lang="en-GB" smtClean="0"/>
              <a:t>15/06/2026</a:t>
            </a:fld>
            <a:endParaRPr lang="en-GB"/>
          </a:p>
        </p:txBody>
      </p:sp>
      <p:sp>
        <p:nvSpPr>
          <p:cNvPr id="5" name="Footer Placeholder 4">
            <a:extLst>
              <a:ext uri="{FF2B5EF4-FFF2-40B4-BE49-F238E27FC236}">
                <a16:creationId xmlns:a16="http://schemas.microsoft.com/office/drawing/2014/main" id="{FF2822B4-5541-4603-803C-801C28DFBFE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24E194-5EEA-4CA3-9074-2CF1807854DF}"/>
              </a:ext>
            </a:extLst>
          </p:cNvPr>
          <p:cNvSpPr>
            <a:spLocks noGrp="1"/>
          </p:cNvSpPr>
          <p:nvPr>
            <p:ph type="sldNum" sz="quarter" idx="12"/>
          </p:nvPr>
        </p:nvSpPr>
        <p:spPr/>
        <p:txBody>
          <a:bodyPr/>
          <a:lstStyle/>
          <a:p>
            <a:fld id="{759EC87E-84A4-4DFB-947B-E8F007D9B860}" type="slidenum">
              <a:rPr lang="en-GB" smtClean="0"/>
              <a:t>‹#›</a:t>
            </a:fld>
            <a:endParaRPr lang="en-GB"/>
          </a:p>
        </p:txBody>
      </p:sp>
    </p:spTree>
    <p:extLst>
      <p:ext uri="{BB962C8B-B14F-4D97-AF65-F5344CB8AC3E}">
        <p14:creationId xmlns:p14="http://schemas.microsoft.com/office/powerpoint/2010/main" val="2797946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4A58FE-5129-496D-9FA7-FF4BF4F5434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18817F7-C992-4059-8E1C-705D13B7650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3F17C2D-C1F1-4FA2-AF65-4D3CC31F718A}"/>
              </a:ext>
            </a:extLst>
          </p:cNvPr>
          <p:cNvSpPr>
            <a:spLocks noGrp="1"/>
          </p:cNvSpPr>
          <p:nvPr>
            <p:ph type="dt" sz="half" idx="10"/>
          </p:nvPr>
        </p:nvSpPr>
        <p:spPr/>
        <p:txBody>
          <a:bodyPr/>
          <a:lstStyle/>
          <a:p>
            <a:fld id="{E3856891-E2D1-4CE5-BC76-4AF45E441FEC}" type="datetimeFigureOut">
              <a:rPr lang="en-GB" smtClean="0"/>
              <a:t>15/06/2026</a:t>
            </a:fld>
            <a:endParaRPr lang="en-GB"/>
          </a:p>
        </p:txBody>
      </p:sp>
      <p:sp>
        <p:nvSpPr>
          <p:cNvPr id="5" name="Footer Placeholder 4">
            <a:extLst>
              <a:ext uri="{FF2B5EF4-FFF2-40B4-BE49-F238E27FC236}">
                <a16:creationId xmlns:a16="http://schemas.microsoft.com/office/drawing/2014/main" id="{84E76CF0-24EC-48F0-87A9-C647FFCACAA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4EB9A8A-713F-4BEF-BBC6-EB0874E128A1}"/>
              </a:ext>
            </a:extLst>
          </p:cNvPr>
          <p:cNvSpPr>
            <a:spLocks noGrp="1"/>
          </p:cNvSpPr>
          <p:nvPr>
            <p:ph type="sldNum" sz="quarter" idx="12"/>
          </p:nvPr>
        </p:nvSpPr>
        <p:spPr/>
        <p:txBody>
          <a:bodyPr/>
          <a:lstStyle/>
          <a:p>
            <a:fld id="{759EC87E-84A4-4DFB-947B-E8F007D9B860}" type="slidenum">
              <a:rPr lang="en-GB" smtClean="0"/>
              <a:t>‹#›</a:t>
            </a:fld>
            <a:endParaRPr lang="en-GB"/>
          </a:p>
        </p:txBody>
      </p:sp>
    </p:spTree>
    <p:extLst>
      <p:ext uri="{BB962C8B-B14F-4D97-AF65-F5344CB8AC3E}">
        <p14:creationId xmlns:p14="http://schemas.microsoft.com/office/powerpoint/2010/main" val="2082306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EA4D4B-1BEB-42C8-AFA6-6CB46D61D8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CBECF2F-6AC6-450B-9D4E-8608613C8B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05E0AA5-A55D-4402-B175-64EA62BF0D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856891-E2D1-4CE5-BC76-4AF45E441FEC}" type="datetimeFigureOut">
              <a:rPr lang="en-GB" smtClean="0"/>
              <a:t>15/06/2026</a:t>
            </a:fld>
            <a:endParaRPr lang="en-GB"/>
          </a:p>
        </p:txBody>
      </p:sp>
      <p:sp>
        <p:nvSpPr>
          <p:cNvPr id="5" name="Footer Placeholder 4">
            <a:extLst>
              <a:ext uri="{FF2B5EF4-FFF2-40B4-BE49-F238E27FC236}">
                <a16:creationId xmlns:a16="http://schemas.microsoft.com/office/drawing/2014/main" id="{17C26B33-134F-44B2-81BA-3429C5E16D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AAA1E6F-A964-4220-94ED-8E6794CAC8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9EC87E-84A4-4DFB-947B-E8F007D9B860}" type="slidenum">
              <a:rPr lang="en-GB" smtClean="0"/>
              <a:t>‹#›</a:t>
            </a:fld>
            <a:endParaRPr lang="en-GB"/>
          </a:p>
        </p:txBody>
      </p:sp>
    </p:spTree>
    <p:extLst>
      <p:ext uri="{BB962C8B-B14F-4D97-AF65-F5344CB8AC3E}">
        <p14:creationId xmlns:p14="http://schemas.microsoft.com/office/powerpoint/2010/main" val="12817292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91D386-D04C-41B8-9FD1-E0D3CEE94B45}"/>
              </a:ext>
            </a:extLst>
          </p:cNvPr>
          <p:cNvSpPr/>
          <p:nvPr/>
        </p:nvSpPr>
        <p:spPr>
          <a:xfrm>
            <a:off x="565607" y="772998"/>
            <a:ext cx="10869105" cy="5632311"/>
          </a:xfrm>
          <a:prstGeom prst="rect">
            <a:avLst/>
          </a:prstGeom>
        </p:spPr>
        <p:txBody>
          <a:bodyPr wrap="square">
            <a:spAutoFit/>
          </a:bodyPr>
          <a:lstStyle/>
          <a:p>
            <a:pPr algn="ctr"/>
            <a:r>
              <a:rPr lang="en-GB" sz="4000" b="1" dirty="0"/>
              <a:t>Smart Building Energy Optimization Assistant</a:t>
            </a:r>
          </a:p>
          <a:p>
            <a:pPr algn="ctr"/>
            <a:r>
              <a:rPr lang="en-GB" sz="4000" b="1" dirty="0"/>
              <a:t>Demonstration of Use Cases 1–3</a:t>
            </a:r>
          </a:p>
          <a:p>
            <a:pPr algn="ctr"/>
            <a:endParaRPr lang="en-GB" sz="4000" b="1" dirty="0"/>
          </a:p>
          <a:p>
            <a:pPr algn="ctr"/>
            <a:endParaRPr lang="en-GB" sz="4000" b="1" dirty="0"/>
          </a:p>
          <a:p>
            <a:pPr algn="ctr"/>
            <a:r>
              <a:rPr lang="en-GB" sz="4000" b="1" dirty="0"/>
              <a:t>Course:</a:t>
            </a:r>
            <a:r>
              <a:rPr lang="en-GB" sz="4000" dirty="0"/>
              <a:t> CISC 699 – Applied Project</a:t>
            </a:r>
          </a:p>
          <a:p>
            <a:pPr algn="ctr"/>
            <a:br>
              <a:rPr lang="en-GB" sz="4000" dirty="0"/>
            </a:br>
            <a:r>
              <a:rPr lang="en-GB" sz="4000" b="1" dirty="0"/>
              <a:t>Student:</a:t>
            </a:r>
            <a:r>
              <a:rPr lang="en-GB" sz="4000" dirty="0"/>
              <a:t> Venkat </a:t>
            </a:r>
            <a:r>
              <a:rPr lang="en-GB" sz="4000" dirty="0" err="1"/>
              <a:t>Shyam</a:t>
            </a:r>
            <a:r>
              <a:rPr lang="en-GB" sz="4000" dirty="0"/>
              <a:t> </a:t>
            </a:r>
            <a:r>
              <a:rPr lang="en-GB" sz="4000" dirty="0" err="1"/>
              <a:t>Damagatla</a:t>
            </a:r>
            <a:endParaRPr lang="en-GB" sz="4000" dirty="0"/>
          </a:p>
          <a:p>
            <a:pPr algn="ctr"/>
            <a:br>
              <a:rPr lang="en-GB" sz="4000" dirty="0"/>
            </a:br>
            <a:r>
              <a:rPr lang="en-GB" sz="4000" b="1" dirty="0"/>
              <a:t>Date:</a:t>
            </a:r>
            <a:r>
              <a:rPr lang="en-GB" sz="4000" dirty="0"/>
              <a:t> June 15, 2026</a:t>
            </a:r>
          </a:p>
        </p:txBody>
      </p:sp>
    </p:spTree>
    <p:extLst>
      <p:ext uri="{BB962C8B-B14F-4D97-AF65-F5344CB8AC3E}">
        <p14:creationId xmlns:p14="http://schemas.microsoft.com/office/powerpoint/2010/main" val="803371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972B2-1EEF-4843-A872-ABAD9A516E2B}"/>
              </a:ext>
            </a:extLst>
          </p:cNvPr>
          <p:cNvSpPr>
            <a:spLocks noGrp="1"/>
          </p:cNvSpPr>
          <p:nvPr>
            <p:ph type="title"/>
          </p:nvPr>
        </p:nvSpPr>
        <p:spPr>
          <a:xfrm>
            <a:off x="838200" y="365125"/>
            <a:ext cx="10515600" cy="709531"/>
          </a:xfrm>
        </p:spPr>
        <p:txBody>
          <a:bodyPr/>
          <a:lstStyle/>
          <a:p>
            <a:pPr algn="ctr"/>
            <a:r>
              <a:rPr lang="en-GB" b="1" dirty="0">
                <a:latin typeface="+mn-lt"/>
              </a:rPr>
              <a:t>Introduction</a:t>
            </a:r>
          </a:p>
        </p:txBody>
      </p:sp>
      <p:sp>
        <p:nvSpPr>
          <p:cNvPr id="3" name="Content Placeholder 2">
            <a:extLst>
              <a:ext uri="{FF2B5EF4-FFF2-40B4-BE49-F238E27FC236}">
                <a16:creationId xmlns:a16="http://schemas.microsoft.com/office/drawing/2014/main" id="{73577672-D28A-4F4C-8733-AECD5B2F2AA4}"/>
              </a:ext>
            </a:extLst>
          </p:cNvPr>
          <p:cNvSpPr>
            <a:spLocks noGrp="1"/>
          </p:cNvSpPr>
          <p:nvPr>
            <p:ph idx="1"/>
          </p:nvPr>
        </p:nvSpPr>
        <p:spPr>
          <a:xfrm>
            <a:off x="838200" y="1074656"/>
            <a:ext cx="10515600" cy="5102307"/>
          </a:xfrm>
        </p:spPr>
        <p:txBody>
          <a:bodyPr/>
          <a:lstStyle/>
          <a:p>
            <a:r>
              <a:rPr lang="en-GB" dirty="0"/>
              <a:t>Good day everyone. In this demonstration, I will present the implementation of Use Cases 4, 5, and 6 of the Smart Building Energy Optimization Assistant. </a:t>
            </a:r>
          </a:p>
          <a:p>
            <a:r>
              <a:rPr lang="en-GB" dirty="0"/>
              <a:t>These use cases represent the intelligence layer of the system. After collecting building information and forecasting energy demand, the system now generates optimization recommendations, executes approved energy plans, and adapts to changing occupancy conditions in real time.</a:t>
            </a:r>
          </a:p>
        </p:txBody>
      </p:sp>
    </p:spTree>
    <p:extLst>
      <p:ext uri="{BB962C8B-B14F-4D97-AF65-F5344CB8AC3E}">
        <p14:creationId xmlns:p14="http://schemas.microsoft.com/office/powerpoint/2010/main" val="1934084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377E0-AC4C-4CFB-A1A8-E7CE66E9819F}"/>
              </a:ext>
            </a:extLst>
          </p:cNvPr>
          <p:cNvSpPr>
            <a:spLocks noGrp="1"/>
          </p:cNvSpPr>
          <p:nvPr>
            <p:ph type="title"/>
          </p:nvPr>
        </p:nvSpPr>
        <p:spPr>
          <a:xfrm>
            <a:off x="838200" y="365126"/>
            <a:ext cx="10515600" cy="445580"/>
          </a:xfrm>
        </p:spPr>
        <p:txBody>
          <a:bodyPr>
            <a:normAutofit fontScale="90000"/>
          </a:bodyPr>
          <a:lstStyle/>
          <a:p>
            <a:pPr algn="ctr"/>
            <a:r>
              <a:rPr lang="en-GB" b="1" dirty="0">
                <a:latin typeface="+mn-lt"/>
              </a:rPr>
              <a:t>Review of Previous Implementation</a:t>
            </a:r>
          </a:p>
        </p:txBody>
      </p:sp>
      <p:sp>
        <p:nvSpPr>
          <p:cNvPr id="3" name="Content Placeholder 2">
            <a:extLst>
              <a:ext uri="{FF2B5EF4-FFF2-40B4-BE49-F238E27FC236}">
                <a16:creationId xmlns:a16="http://schemas.microsoft.com/office/drawing/2014/main" id="{DFB2BE85-E3B6-41ED-8F6C-3BFA111498B8}"/>
              </a:ext>
            </a:extLst>
          </p:cNvPr>
          <p:cNvSpPr>
            <a:spLocks noGrp="1"/>
          </p:cNvSpPr>
          <p:nvPr>
            <p:ph idx="1"/>
          </p:nvPr>
        </p:nvSpPr>
        <p:spPr>
          <a:xfrm>
            <a:off x="65988" y="895546"/>
            <a:ext cx="12028602" cy="5797485"/>
          </a:xfrm>
        </p:spPr>
        <p:txBody>
          <a:bodyPr>
            <a:normAutofit fontScale="92500" lnSpcReduction="10000"/>
          </a:bodyPr>
          <a:lstStyle/>
          <a:p>
            <a:pPr marL="0" indent="0">
              <a:buNone/>
            </a:pPr>
            <a:r>
              <a:rPr lang="en-GB" b="1" dirty="0"/>
              <a:t>Previously Completed Use Cases</a:t>
            </a:r>
          </a:p>
          <a:p>
            <a:pPr marL="0" indent="0">
              <a:buNone/>
            </a:pPr>
            <a:r>
              <a:rPr lang="en-GB" dirty="0"/>
              <a:t>✓ Register Building Profile</a:t>
            </a:r>
          </a:p>
          <a:p>
            <a:pPr marL="0" indent="0">
              <a:buNone/>
            </a:pPr>
            <a:r>
              <a:rPr lang="en-GB" dirty="0"/>
              <a:t>✓ Import Occupancy Schedule</a:t>
            </a:r>
          </a:p>
          <a:p>
            <a:pPr marL="0" indent="0">
              <a:buNone/>
            </a:pPr>
            <a:r>
              <a:rPr lang="en-GB" dirty="0"/>
              <a:t>✓ Forecast Zone Demand</a:t>
            </a:r>
          </a:p>
          <a:p>
            <a:pPr marL="0" indent="0">
              <a:buNone/>
            </a:pPr>
            <a:r>
              <a:rPr lang="en-GB" b="1" dirty="0"/>
              <a:t>Current Demonstration</a:t>
            </a:r>
          </a:p>
          <a:p>
            <a:pPr marL="0" indent="0">
              <a:buNone/>
            </a:pPr>
            <a:r>
              <a:rPr lang="en-GB" dirty="0"/>
              <a:t>✓ Recommend HVAC Setpoint Changes</a:t>
            </a:r>
          </a:p>
          <a:p>
            <a:pPr marL="0" indent="0">
              <a:buNone/>
            </a:pPr>
            <a:r>
              <a:rPr lang="en-GB" dirty="0"/>
              <a:t>✓ Apply Approved Energy Plan</a:t>
            </a:r>
          </a:p>
          <a:p>
            <a:pPr marL="0" indent="0">
              <a:buNone/>
            </a:pPr>
            <a:r>
              <a:rPr lang="en-GB" dirty="0"/>
              <a:t>✓ Adapt Plan to Occupancy Change</a:t>
            </a:r>
          </a:p>
          <a:p>
            <a:endParaRPr lang="en-GB" dirty="0"/>
          </a:p>
          <a:p>
            <a:r>
              <a:rPr lang="en-GB" dirty="0"/>
              <a:t>In the previous demonstration, we established the foundation of the system by creating building profiles, importing occupancy schedules, and forecasting energy demand. Today we will focus on how the system uses those forecasts to optimize energy consumption while maintaining occupant comfort.</a:t>
            </a:r>
          </a:p>
          <a:p>
            <a:endParaRPr lang="en-GB" dirty="0"/>
          </a:p>
          <a:p>
            <a:endParaRPr lang="en-GB" dirty="0"/>
          </a:p>
        </p:txBody>
      </p:sp>
    </p:spTree>
    <p:extLst>
      <p:ext uri="{BB962C8B-B14F-4D97-AF65-F5344CB8AC3E}">
        <p14:creationId xmlns:p14="http://schemas.microsoft.com/office/powerpoint/2010/main" val="1773983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4D0C2-7074-4167-B382-8ABA24382833}"/>
              </a:ext>
            </a:extLst>
          </p:cNvPr>
          <p:cNvSpPr>
            <a:spLocks noGrp="1"/>
          </p:cNvSpPr>
          <p:nvPr>
            <p:ph type="title"/>
          </p:nvPr>
        </p:nvSpPr>
        <p:spPr>
          <a:xfrm>
            <a:off x="838200" y="365126"/>
            <a:ext cx="10515600" cy="652970"/>
          </a:xfrm>
        </p:spPr>
        <p:txBody>
          <a:bodyPr>
            <a:normAutofit fontScale="90000"/>
          </a:bodyPr>
          <a:lstStyle/>
          <a:p>
            <a:pPr algn="ctr"/>
            <a:r>
              <a:rPr lang="en-GB" b="1" dirty="0">
                <a:latin typeface="+mn-lt"/>
              </a:rPr>
              <a:t>System Workflow</a:t>
            </a:r>
          </a:p>
        </p:txBody>
      </p:sp>
      <p:sp>
        <p:nvSpPr>
          <p:cNvPr id="3" name="Content Placeholder 2">
            <a:extLst>
              <a:ext uri="{FF2B5EF4-FFF2-40B4-BE49-F238E27FC236}">
                <a16:creationId xmlns:a16="http://schemas.microsoft.com/office/drawing/2014/main" id="{CDE767ED-A4E6-4A1C-85D3-224ABCB1CD79}"/>
              </a:ext>
            </a:extLst>
          </p:cNvPr>
          <p:cNvSpPr>
            <a:spLocks noGrp="1"/>
          </p:cNvSpPr>
          <p:nvPr>
            <p:ph idx="1"/>
          </p:nvPr>
        </p:nvSpPr>
        <p:spPr>
          <a:xfrm>
            <a:off x="838200" y="1018096"/>
            <a:ext cx="10515600" cy="5158867"/>
          </a:xfrm>
        </p:spPr>
        <p:txBody>
          <a:bodyPr>
            <a:normAutofit fontScale="85000" lnSpcReduction="20000"/>
          </a:bodyPr>
          <a:lstStyle/>
          <a:p>
            <a:pPr marL="0" indent="0" algn="ctr">
              <a:buNone/>
            </a:pPr>
            <a:r>
              <a:rPr lang="en-GB" b="1" dirty="0"/>
              <a:t>Energy Optimization Process</a:t>
            </a:r>
          </a:p>
          <a:p>
            <a:pPr marL="0" indent="0" algn="ctr">
              <a:buNone/>
            </a:pPr>
            <a:r>
              <a:rPr lang="en-GB" dirty="0"/>
              <a:t>Building Profile</a:t>
            </a:r>
            <a:br>
              <a:rPr lang="en-GB" dirty="0"/>
            </a:br>
            <a:r>
              <a:rPr lang="en-GB" dirty="0"/>
              <a:t>↓</a:t>
            </a:r>
            <a:br>
              <a:rPr lang="en-GB" dirty="0"/>
            </a:br>
            <a:r>
              <a:rPr lang="en-GB" dirty="0"/>
              <a:t>Occupancy Schedule</a:t>
            </a:r>
            <a:br>
              <a:rPr lang="en-GB" dirty="0"/>
            </a:br>
            <a:r>
              <a:rPr lang="en-GB" dirty="0"/>
              <a:t>↓</a:t>
            </a:r>
            <a:br>
              <a:rPr lang="en-GB" dirty="0"/>
            </a:br>
            <a:r>
              <a:rPr lang="en-GB" dirty="0"/>
              <a:t>Demand Forecast</a:t>
            </a:r>
            <a:br>
              <a:rPr lang="en-GB" dirty="0"/>
            </a:br>
            <a:r>
              <a:rPr lang="en-GB" dirty="0"/>
              <a:t>↓</a:t>
            </a:r>
            <a:br>
              <a:rPr lang="en-GB" dirty="0"/>
            </a:br>
            <a:r>
              <a:rPr lang="en-GB" dirty="0"/>
              <a:t>HVAC Recommendations</a:t>
            </a:r>
            <a:br>
              <a:rPr lang="en-GB" dirty="0"/>
            </a:br>
            <a:r>
              <a:rPr lang="en-GB" dirty="0"/>
              <a:t>↓</a:t>
            </a:r>
            <a:br>
              <a:rPr lang="en-GB" dirty="0"/>
            </a:br>
            <a:r>
              <a:rPr lang="en-GB" dirty="0"/>
              <a:t>Approved Energy Plan</a:t>
            </a:r>
            <a:br>
              <a:rPr lang="en-GB" dirty="0"/>
            </a:br>
            <a:r>
              <a:rPr lang="en-GB" dirty="0"/>
              <a:t>↓</a:t>
            </a:r>
            <a:br>
              <a:rPr lang="en-GB" dirty="0"/>
            </a:br>
            <a:r>
              <a:rPr lang="en-GB" dirty="0"/>
              <a:t>Real-Time Adaptation</a:t>
            </a:r>
          </a:p>
          <a:p>
            <a:pPr marL="0" indent="0">
              <a:buNone/>
            </a:pPr>
            <a:endParaRPr lang="en-GB" dirty="0"/>
          </a:p>
          <a:p>
            <a:pPr marL="0" indent="0">
              <a:buNone/>
            </a:pPr>
            <a:r>
              <a:rPr lang="en-GB" dirty="0"/>
              <a:t>This slide illustrates the overall workflow. Forecasting generates estimates of future energy demand. The optimization engine then </a:t>
            </a:r>
            <a:r>
              <a:rPr lang="en-GB" dirty="0" err="1"/>
              <a:t>analyzes</a:t>
            </a:r>
            <a:r>
              <a:rPr lang="en-GB" dirty="0"/>
              <a:t> those forecasts and proposes HVAC adjustments. Once approved, the plan is executed. If occupancy patterns change unexpectedly, the system automatically adapts the plan to maintain efficiency and comfort.</a:t>
            </a:r>
          </a:p>
          <a:p>
            <a:pPr marL="0" indent="0" algn="ctr">
              <a:buNone/>
            </a:pPr>
            <a:endParaRPr lang="en-GB" b="1" dirty="0"/>
          </a:p>
        </p:txBody>
      </p:sp>
    </p:spTree>
    <p:extLst>
      <p:ext uri="{BB962C8B-B14F-4D97-AF65-F5344CB8AC3E}">
        <p14:creationId xmlns:p14="http://schemas.microsoft.com/office/powerpoint/2010/main" val="616561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CAE3E-92CB-4C80-BE94-A90E79BE0A9B}"/>
              </a:ext>
            </a:extLst>
          </p:cNvPr>
          <p:cNvSpPr>
            <a:spLocks noGrp="1"/>
          </p:cNvSpPr>
          <p:nvPr>
            <p:ph type="title"/>
          </p:nvPr>
        </p:nvSpPr>
        <p:spPr>
          <a:xfrm>
            <a:off x="838200" y="365126"/>
            <a:ext cx="10515600" cy="728384"/>
          </a:xfrm>
        </p:spPr>
        <p:txBody>
          <a:bodyPr>
            <a:normAutofit fontScale="90000"/>
          </a:bodyPr>
          <a:lstStyle/>
          <a:p>
            <a:pPr algn="ctr"/>
            <a:r>
              <a:rPr lang="en-GB" b="1" dirty="0">
                <a:latin typeface="+mn-lt"/>
              </a:rPr>
              <a:t>Use Case 4 – Recommend HVAC Setpoint Changes</a:t>
            </a:r>
          </a:p>
        </p:txBody>
      </p:sp>
      <p:sp>
        <p:nvSpPr>
          <p:cNvPr id="3" name="Content Placeholder 2">
            <a:extLst>
              <a:ext uri="{FF2B5EF4-FFF2-40B4-BE49-F238E27FC236}">
                <a16:creationId xmlns:a16="http://schemas.microsoft.com/office/drawing/2014/main" id="{412738FB-7A48-435C-8828-0D5660D405BB}"/>
              </a:ext>
            </a:extLst>
          </p:cNvPr>
          <p:cNvSpPr>
            <a:spLocks noGrp="1"/>
          </p:cNvSpPr>
          <p:nvPr>
            <p:ph idx="1"/>
          </p:nvPr>
        </p:nvSpPr>
        <p:spPr>
          <a:xfrm>
            <a:off x="169682" y="1225485"/>
            <a:ext cx="11906054" cy="5467546"/>
          </a:xfrm>
        </p:spPr>
        <p:txBody>
          <a:bodyPr>
            <a:normAutofit fontScale="92500" lnSpcReduction="20000"/>
          </a:bodyPr>
          <a:lstStyle/>
          <a:p>
            <a:pPr marL="0" indent="0">
              <a:buNone/>
            </a:pPr>
            <a:r>
              <a:rPr lang="en-GB" b="1" dirty="0"/>
              <a:t>Objective</a:t>
            </a:r>
          </a:p>
          <a:p>
            <a:r>
              <a:rPr lang="en-GB" dirty="0"/>
              <a:t>Generate energy-saving HVAC recommendations while preserving occupant comfort.</a:t>
            </a:r>
          </a:p>
          <a:p>
            <a:pPr marL="0" indent="0">
              <a:buNone/>
            </a:pPr>
            <a:r>
              <a:rPr lang="en-GB" b="1" dirty="0"/>
              <a:t>Inputs</a:t>
            </a:r>
          </a:p>
          <a:p>
            <a:r>
              <a:rPr lang="en-GB" dirty="0"/>
              <a:t>Energy demand forecasts</a:t>
            </a:r>
          </a:p>
          <a:p>
            <a:r>
              <a:rPr lang="en-GB" dirty="0"/>
              <a:t>Occupancy schedules</a:t>
            </a:r>
          </a:p>
          <a:p>
            <a:r>
              <a:rPr lang="en-GB" dirty="0"/>
              <a:t>Comfort thresholds</a:t>
            </a:r>
          </a:p>
          <a:p>
            <a:r>
              <a:rPr lang="en-GB" dirty="0"/>
              <a:t>Current HVAC settings</a:t>
            </a:r>
          </a:p>
          <a:p>
            <a:pPr marL="0" indent="0">
              <a:buNone/>
            </a:pPr>
            <a:r>
              <a:rPr lang="en-GB" b="1" dirty="0"/>
              <a:t>Output</a:t>
            </a:r>
          </a:p>
          <a:p>
            <a:r>
              <a:rPr lang="en-GB" dirty="0"/>
              <a:t>Recommended temperature setpoint adjustments with projected savings.</a:t>
            </a:r>
          </a:p>
          <a:p>
            <a:pPr marL="0" indent="0">
              <a:buNone/>
            </a:pPr>
            <a:endParaRPr lang="en-GB" dirty="0"/>
          </a:p>
          <a:p>
            <a:pPr marL="0" indent="0">
              <a:buNone/>
            </a:pPr>
            <a:r>
              <a:rPr lang="en-GB" dirty="0"/>
              <a:t>The purpose of this use case is to help facility managers reduce energy consumption. The system evaluates forecasted demand, occupancy information, and comfort requirements. Based on this analysis, it recommends HVAC temperature adjustments that can lower energy usage without negatively affecting occupants.</a:t>
            </a:r>
          </a:p>
          <a:p>
            <a:endParaRPr lang="en-GB" dirty="0"/>
          </a:p>
        </p:txBody>
      </p:sp>
    </p:spTree>
    <p:extLst>
      <p:ext uri="{BB962C8B-B14F-4D97-AF65-F5344CB8AC3E}">
        <p14:creationId xmlns:p14="http://schemas.microsoft.com/office/powerpoint/2010/main" val="2509332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E4B59-AF7F-4A15-9C13-D9F58C6BEC76}"/>
              </a:ext>
            </a:extLst>
          </p:cNvPr>
          <p:cNvSpPr>
            <a:spLocks noGrp="1"/>
          </p:cNvSpPr>
          <p:nvPr>
            <p:ph type="title"/>
          </p:nvPr>
        </p:nvSpPr>
        <p:spPr>
          <a:xfrm>
            <a:off x="838200" y="365125"/>
            <a:ext cx="10515600" cy="803799"/>
          </a:xfrm>
        </p:spPr>
        <p:txBody>
          <a:bodyPr>
            <a:normAutofit fontScale="90000"/>
          </a:bodyPr>
          <a:lstStyle/>
          <a:p>
            <a:pPr algn="ctr"/>
            <a:r>
              <a:rPr lang="en-GB" b="1" dirty="0">
                <a:latin typeface="+mn-lt"/>
              </a:rPr>
              <a:t>Demonstration – Recommend HVAC Setpoint Changes</a:t>
            </a:r>
          </a:p>
        </p:txBody>
      </p:sp>
      <p:sp>
        <p:nvSpPr>
          <p:cNvPr id="3" name="Content Placeholder 2">
            <a:extLst>
              <a:ext uri="{FF2B5EF4-FFF2-40B4-BE49-F238E27FC236}">
                <a16:creationId xmlns:a16="http://schemas.microsoft.com/office/drawing/2014/main" id="{CF7D43E5-9E1D-4F96-BCD4-B101FBBA634B}"/>
              </a:ext>
            </a:extLst>
          </p:cNvPr>
          <p:cNvSpPr>
            <a:spLocks noGrp="1"/>
          </p:cNvSpPr>
          <p:nvPr>
            <p:ph idx="1"/>
          </p:nvPr>
        </p:nvSpPr>
        <p:spPr>
          <a:xfrm>
            <a:off x="838200" y="1291472"/>
            <a:ext cx="10515600" cy="5335571"/>
          </a:xfrm>
        </p:spPr>
        <p:txBody>
          <a:bodyPr>
            <a:normAutofit fontScale="85000" lnSpcReduction="20000"/>
          </a:bodyPr>
          <a:lstStyle/>
          <a:p>
            <a:pPr marL="0" indent="0">
              <a:buNone/>
            </a:pPr>
            <a:r>
              <a:rPr lang="en-GB" b="1" dirty="0"/>
              <a:t>Demo Steps</a:t>
            </a:r>
          </a:p>
          <a:p>
            <a:r>
              <a:rPr lang="en-GB" dirty="0"/>
              <a:t>Open Optimization Dashboard</a:t>
            </a:r>
          </a:p>
          <a:p>
            <a:r>
              <a:rPr lang="en-GB" dirty="0"/>
              <a:t>Load Demand Forecasts</a:t>
            </a:r>
          </a:p>
          <a:p>
            <a:r>
              <a:rPr lang="en-GB" dirty="0" err="1"/>
              <a:t>Analyze</a:t>
            </a:r>
            <a:r>
              <a:rPr lang="en-GB" dirty="0"/>
              <a:t> Occupancy and Comfort Constraints</a:t>
            </a:r>
          </a:p>
          <a:p>
            <a:r>
              <a:rPr lang="en-GB" dirty="0"/>
              <a:t>Generate HVAC Recommendations</a:t>
            </a:r>
          </a:p>
          <a:p>
            <a:r>
              <a:rPr lang="en-GB" dirty="0"/>
              <a:t>Display Savings Estimates</a:t>
            </a:r>
          </a:p>
          <a:p>
            <a:pPr marL="0" indent="0">
              <a:buNone/>
            </a:pPr>
            <a:endParaRPr lang="en-GB" dirty="0"/>
          </a:p>
          <a:p>
            <a:pPr marL="0" indent="0">
              <a:buNone/>
            </a:pPr>
            <a:r>
              <a:rPr lang="en-GB" dirty="0"/>
              <a:t>Projected Savings: 12%</a:t>
            </a:r>
          </a:p>
          <a:p>
            <a:endParaRPr lang="en-GB" dirty="0"/>
          </a:p>
          <a:p>
            <a:pPr marL="0" indent="0">
              <a:buNone/>
            </a:pPr>
            <a:r>
              <a:rPr lang="en-GB" dirty="0"/>
              <a:t>For this demonstration, I will open the optimization dashboard and load previously generated forecasts. The system </a:t>
            </a:r>
            <a:r>
              <a:rPr lang="en-GB" dirty="0" err="1"/>
              <a:t>analyzes</a:t>
            </a:r>
            <a:r>
              <a:rPr lang="en-GB" dirty="0"/>
              <a:t> occupancy schedules and comfort thresholds. It then recommends small HVAC temperature adjustments. In this example, increasing temperatures by two degrees during low occupancy periods can reduce energy consumption by approximately twelve percent while remaining within acceptable comfort limits.</a:t>
            </a:r>
          </a:p>
        </p:txBody>
      </p:sp>
      <p:graphicFrame>
        <p:nvGraphicFramePr>
          <p:cNvPr id="4" name="Table 3">
            <a:extLst>
              <a:ext uri="{FF2B5EF4-FFF2-40B4-BE49-F238E27FC236}">
                <a16:creationId xmlns:a16="http://schemas.microsoft.com/office/drawing/2014/main" id="{D85AF671-5924-4688-A304-95727A5D58E2}"/>
              </a:ext>
            </a:extLst>
          </p:cNvPr>
          <p:cNvGraphicFramePr>
            <a:graphicFrameLocks noGrp="1"/>
          </p:cNvGraphicFramePr>
          <p:nvPr>
            <p:extLst>
              <p:ext uri="{D42A27DB-BD31-4B8C-83A1-F6EECF244321}">
                <p14:modId xmlns:p14="http://schemas.microsoft.com/office/powerpoint/2010/main" val="2631430026"/>
              </p:ext>
            </p:extLst>
          </p:nvPr>
        </p:nvGraphicFramePr>
        <p:xfrm>
          <a:off x="6096001" y="1564849"/>
          <a:ext cx="4697691" cy="1263192"/>
        </p:xfrm>
        <a:graphic>
          <a:graphicData uri="http://schemas.openxmlformats.org/drawingml/2006/table">
            <a:tbl>
              <a:tblPr firstRow="1" firstCol="1" bandRow="1">
                <a:tableStyleId>{5C22544A-7EE6-4342-B048-85BDC9FD1C3A}</a:tableStyleId>
              </a:tblPr>
              <a:tblGrid>
                <a:gridCol w="1565897">
                  <a:extLst>
                    <a:ext uri="{9D8B030D-6E8A-4147-A177-3AD203B41FA5}">
                      <a16:colId xmlns:a16="http://schemas.microsoft.com/office/drawing/2014/main" val="3786161655"/>
                    </a:ext>
                  </a:extLst>
                </a:gridCol>
                <a:gridCol w="1565897">
                  <a:extLst>
                    <a:ext uri="{9D8B030D-6E8A-4147-A177-3AD203B41FA5}">
                      <a16:colId xmlns:a16="http://schemas.microsoft.com/office/drawing/2014/main" val="3049968150"/>
                    </a:ext>
                  </a:extLst>
                </a:gridCol>
                <a:gridCol w="1565897">
                  <a:extLst>
                    <a:ext uri="{9D8B030D-6E8A-4147-A177-3AD203B41FA5}">
                      <a16:colId xmlns:a16="http://schemas.microsoft.com/office/drawing/2014/main" val="1578444807"/>
                    </a:ext>
                  </a:extLst>
                </a:gridCol>
              </a:tblGrid>
              <a:tr h="315798">
                <a:tc>
                  <a:txBody>
                    <a:bodyPr/>
                    <a:lstStyle/>
                    <a:p>
                      <a:pPr>
                        <a:lnSpc>
                          <a:spcPct val="107000"/>
                        </a:lnSpc>
                        <a:spcAft>
                          <a:spcPts val="0"/>
                        </a:spcAft>
                      </a:pPr>
                      <a:r>
                        <a:rPr lang="en-GB" sz="1100">
                          <a:effectLst/>
                        </a:rPr>
                        <a:t>Zone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Current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Recommended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49708878"/>
                  </a:ext>
                </a:extLst>
              </a:tr>
              <a:tr h="315798">
                <a:tc>
                  <a:txBody>
                    <a:bodyPr/>
                    <a:lstStyle/>
                    <a:p>
                      <a:pPr>
                        <a:lnSpc>
                          <a:spcPct val="107000"/>
                        </a:lnSpc>
                        <a:spcAft>
                          <a:spcPts val="0"/>
                        </a:spcAft>
                      </a:pPr>
                      <a:r>
                        <a:rPr lang="en-GB" sz="1100">
                          <a:effectLst/>
                        </a:rPr>
                        <a:t>Lobby</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72°F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74°F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5039014"/>
                  </a:ext>
                </a:extLst>
              </a:tr>
              <a:tr h="315798">
                <a:tc>
                  <a:txBody>
                    <a:bodyPr/>
                    <a:lstStyle/>
                    <a:p>
                      <a:pPr>
                        <a:lnSpc>
                          <a:spcPct val="107000"/>
                        </a:lnSpc>
                        <a:spcAft>
                          <a:spcPts val="0"/>
                        </a:spcAft>
                      </a:pPr>
                      <a:r>
                        <a:rPr lang="en-GB" sz="1100">
                          <a:effectLst/>
                        </a:rPr>
                        <a:t>Conference Room</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71°F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73°F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86289747"/>
                  </a:ext>
                </a:extLst>
              </a:tr>
              <a:tr h="315798">
                <a:tc>
                  <a:txBody>
                    <a:bodyPr/>
                    <a:lstStyle/>
                    <a:p>
                      <a:pPr>
                        <a:lnSpc>
                          <a:spcPct val="107000"/>
                        </a:lnSpc>
                        <a:spcAft>
                          <a:spcPts val="0"/>
                        </a:spcAft>
                      </a:pPr>
                      <a:r>
                        <a:rPr lang="en-GB" sz="1100">
                          <a:effectLst/>
                        </a:rPr>
                        <a:t>Office Area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72°F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dirty="0">
                          <a:effectLst/>
                        </a:rPr>
                        <a:t>74°F</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54217229"/>
                  </a:ext>
                </a:extLst>
              </a:tr>
            </a:tbl>
          </a:graphicData>
        </a:graphic>
      </p:graphicFrame>
    </p:spTree>
    <p:extLst>
      <p:ext uri="{BB962C8B-B14F-4D97-AF65-F5344CB8AC3E}">
        <p14:creationId xmlns:p14="http://schemas.microsoft.com/office/powerpoint/2010/main" val="1610068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A9573-E386-460E-A3BC-7473BE01F3EF}"/>
              </a:ext>
            </a:extLst>
          </p:cNvPr>
          <p:cNvSpPr>
            <a:spLocks noGrp="1"/>
          </p:cNvSpPr>
          <p:nvPr>
            <p:ph type="title"/>
          </p:nvPr>
        </p:nvSpPr>
        <p:spPr>
          <a:xfrm>
            <a:off x="838200" y="365126"/>
            <a:ext cx="10515600" cy="634116"/>
          </a:xfrm>
        </p:spPr>
        <p:txBody>
          <a:bodyPr>
            <a:normAutofit fontScale="90000"/>
          </a:bodyPr>
          <a:lstStyle/>
          <a:p>
            <a:pPr algn="ctr"/>
            <a:r>
              <a:rPr lang="en-GB" b="1" dirty="0">
                <a:latin typeface="+mn-lt"/>
              </a:rPr>
              <a:t>Benefits of HVAC Recommendations</a:t>
            </a:r>
          </a:p>
        </p:txBody>
      </p:sp>
      <p:sp>
        <p:nvSpPr>
          <p:cNvPr id="3" name="Content Placeholder 2">
            <a:extLst>
              <a:ext uri="{FF2B5EF4-FFF2-40B4-BE49-F238E27FC236}">
                <a16:creationId xmlns:a16="http://schemas.microsoft.com/office/drawing/2014/main" id="{FCD848EF-D4F4-4432-9031-515F801D2EED}"/>
              </a:ext>
            </a:extLst>
          </p:cNvPr>
          <p:cNvSpPr>
            <a:spLocks noGrp="1"/>
          </p:cNvSpPr>
          <p:nvPr>
            <p:ph idx="1"/>
          </p:nvPr>
        </p:nvSpPr>
        <p:spPr>
          <a:xfrm>
            <a:off x="226244" y="999241"/>
            <a:ext cx="11679810" cy="5693789"/>
          </a:xfrm>
        </p:spPr>
        <p:txBody>
          <a:bodyPr>
            <a:normAutofit fontScale="92500" lnSpcReduction="20000"/>
          </a:bodyPr>
          <a:lstStyle/>
          <a:p>
            <a:pPr marL="0" indent="0">
              <a:buNone/>
            </a:pPr>
            <a:r>
              <a:rPr lang="en-GB" b="1" dirty="0"/>
              <a:t>Advantages</a:t>
            </a:r>
          </a:p>
          <a:p>
            <a:r>
              <a:rPr lang="en-GB" dirty="0"/>
              <a:t>Lower energy costs</a:t>
            </a:r>
          </a:p>
          <a:p>
            <a:r>
              <a:rPr lang="en-GB" dirty="0"/>
              <a:t>Reduced HVAC workload</a:t>
            </a:r>
          </a:p>
          <a:p>
            <a:r>
              <a:rPr lang="en-GB" dirty="0"/>
              <a:t>Improved sustainability</a:t>
            </a:r>
          </a:p>
          <a:p>
            <a:r>
              <a:rPr lang="en-GB" dirty="0"/>
              <a:t>Maintained occupant comfort</a:t>
            </a:r>
          </a:p>
          <a:p>
            <a:pPr marL="0" indent="0">
              <a:buNone/>
            </a:pPr>
            <a:r>
              <a:rPr lang="en-GB" b="1" dirty="0"/>
              <a:t>Business Value</a:t>
            </a:r>
          </a:p>
          <a:p>
            <a:r>
              <a:rPr lang="en-GB" dirty="0"/>
              <a:t>Operational savings</a:t>
            </a:r>
          </a:p>
          <a:p>
            <a:r>
              <a:rPr lang="en-GB" dirty="0"/>
              <a:t>Environmental benefits</a:t>
            </a:r>
          </a:p>
          <a:p>
            <a:r>
              <a:rPr lang="en-GB" dirty="0"/>
              <a:t>Better resource utilization</a:t>
            </a:r>
          </a:p>
          <a:p>
            <a:pPr marL="0" indent="0">
              <a:buNone/>
            </a:pPr>
            <a:endParaRPr lang="en-GB" dirty="0"/>
          </a:p>
          <a:p>
            <a:pPr marL="0" indent="0">
              <a:buNone/>
            </a:pPr>
            <a:r>
              <a:rPr lang="en-GB" dirty="0"/>
              <a:t>The recommendation engine provides significant business value. Small adjustments to HVAC settings can result in meaningful reductions in energy consumption. These changes lower operational costs, reduce environmental impact, and extend equipment life while ensuring comfort standards are maintained.</a:t>
            </a:r>
          </a:p>
        </p:txBody>
      </p:sp>
    </p:spTree>
    <p:extLst>
      <p:ext uri="{BB962C8B-B14F-4D97-AF65-F5344CB8AC3E}">
        <p14:creationId xmlns:p14="http://schemas.microsoft.com/office/powerpoint/2010/main" val="796153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D5BA2-8832-4793-AB13-07E13972911F}"/>
              </a:ext>
            </a:extLst>
          </p:cNvPr>
          <p:cNvSpPr>
            <a:spLocks noGrp="1"/>
          </p:cNvSpPr>
          <p:nvPr>
            <p:ph type="title"/>
          </p:nvPr>
        </p:nvSpPr>
        <p:spPr>
          <a:xfrm>
            <a:off x="838200" y="365126"/>
            <a:ext cx="10515600" cy="586982"/>
          </a:xfrm>
        </p:spPr>
        <p:txBody>
          <a:bodyPr>
            <a:normAutofit fontScale="90000"/>
          </a:bodyPr>
          <a:lstStyle/>
          <a:p>
            <a:pPr algn="ctr"/>
            <a:r>
              <a:rPr lang="en-GB" b="1" dirty="0">
                <a:latin typeface="+mn-lt"/>
              </a:rPr>
              <a:t>Use Case 5 – Apply Approved Energy Plan</a:t>
            </a:r>
          </a:p>
        </p:txBody>
      </p:sp>
      <p:sp>
        <p:nvSpPr>
          <p:cNvPr id="3" name="Content Placeholder 2">
            <a:extLst>
              <a:ext uri="{FF2B5EF4-FFF2-40B4-BE49-F238E27FC236}">
                <a16:creationId xmlns:a16="http://schemas.microsoft.com/office/drawing/2014/main" id="{82EF2623-9243-471B-A3ED-787F9A90D84B}"/>
              </a:ext>
            </a:extLst>
          </p:cNvPr>
          <p:cNvSpPr>
            <a:spLocks noGrp="1"/>
          </p:cNvSpPr>
          <p:nvPr>
            <p:ph idx="1"/>
          </p:nvPr>
        </p:nvSpPr>
        <p:spPr>
          <a:xfrm>
            <a:off x="358219" y="1140642"/>
            <a:ext cx="11604395" cy="5542961"/>
          </a:xfrm>
        </p:spPr>
        <p:txBody>
          <a:bodyPr>
            <a:normAutofit fontScale="85000" lnSpcReduction="20000"/>
          </a:bodyPr>
          <a:lstStyle/>
          <a:p>
            <a:pPr marL="0" indent="0">
              <a:buNone/>
            </a:pPr>
            <a:r>
              <a:rPr lang="en-GB" b="1" dirty="0"/>
              <a:t>Objective</a:t>
            </a:r>
          </a:p>
          <a:p>
            <a:r>
              <a:rPr lang="en-GB" dirty="0"/>
              <a:t>Execute approved optimization recommendations.</a:t>
            </a:r>
          </a:p>
          <a:p>
            <a:pPr marL="0" indent="0">
              <a:buNone/>
            </a:pPr>
            <a:r>
              <a:rPr lang="en-GB" b="1" dirty="0"/>
              <a:t>Inputs</a:t>
            </a:r>
          </a:p>
          <a:p>
            <a:r>
              <a:rPr lang="en-GB" dirty="0"/>
              <a:t>Approved HVAC recommendations</a:t>
            </a:r>
          </a:p>
          <a:p>
            <a:r>
              <a:rPr lang="en-GB" dirty="0"/>
              <a:t>Zone control information</a:t>
            </a:r>
          </a:p>
          <a:p>
            <a:pPr marL="0" indent="0">
              <a:buNone/>
            </a:pPr>
            <a:r>
              <a:rPr lang="en-GB" b="1" dirty="0"/>
              <a:t>Outputs</a:t>
            </a:r>
          </a:p>
          <a:p>
            <a:r>
              <a:rPr lang="en-GB" dirty="0"/>
              <a:t>HVAC commands sent</a:t>
            </a:r>
          </a:p>
          <a:p>
            <a:r>
              <a:rPr lang="en-GB" dirty="0"/>
              <a:t>Execution status recorded</a:t>
            </a:r>
          </a:p>
          <a:p>
            <a:r>
              <a:rPr lang="en-GB" dirty="0"/>
              <a:t>Activity logged</a:t>
            </a:r>
          </a:p>
          <a:p>
            <a:endParaRPr lang="en-GB" b="1" dirty="0"/>
          </a:p>
          <a:p>
            <a:endParaRPr lang="en-GB" b="1" dirty="0"/>
          </a:p>
          <a:p>
            <a:pPr marL="0" indent="0">
              <a:buNone/>
            </a:pPr>
            <a:r>
              <a:rPr lang="en-GB" dirty="0"/>
              <a:t>Once recommendations are approved by the Facility Manager, the system moves to execution. This use case converts recommendations into actionable commands and sends them to the building control systems. All actions are recorded to support accountability and auditing.</a:t>
            </a:r>
          </a:p>
          <a:p>
            <a:endParaRPr lang="en-GB" dirty="0"/>
          </a:p>
        </p:txBody>
      </p:sp>
    </p:spTree>
    <p:extLst>
      <p:ext uri="{BB962C8B-B14F-4D97-AF65-F5344CB8AC3E}">
        <p14:creationId xmlns:p14="http://schemas.microsoft.com/office/powerpoint/2010/main" val="864005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FA4C2-905F-4678-84B8-F310FEC8E287}"/>
              </a:ext>
            </a:extLst>
          </p:cNvPr>
          <p:cNvSpPr>
            <a:spLocks noGrp="1"/>
          </p:cNvSpPr>
          <p:nvPr>
            <p:ph type="title"/>
          </p:nvPr>
        </p:nvSpPr>
        <p:spPr>
          <a:xfrm>
            <a:off x="838200" y="365126"/>
            <a:ext cx="10515600" cy="888640"/>
          </a:xfrm>
        </p:spPr>
        <p:txBody>
          <a:bodyPr>
            <a:normAutofit fontScale="90000"/>
          </a:bodyPr>
          <a:lstStyle/>
          <a:p>
            <a:pPr algn="ctr"/>
            <a:r>
              <a:rPr lang="en-GB" b="1" dirty="0">
                <a:latin typeface="+mn-lt"/>
              </a:rPr>
              <a:t>Demonstration – Apply Approved Energy Plan</a:t>
            </a:r>
          </a:p>
        </p:txBody>
      </p:sp>
      <p:sp>
        <p:nvSpPr>
          <p:cNvPr id="3" name="Content Placeholder 2">
            <a:extLst>
              <a:ext uri="{FF2B5EF4-FFF2-40B4-BE49-F238E27FC236}">
                <a16:creationId xmlns:a16="http://schemas.microsoft.com/office/drawing/2014/main" id="{AF15C3EB-D09B-47B8-B615-5939A40C2C81}"/>
              </a:ext>
            </a:extLst>
          </p:cNvPr>
          <p:cNvSpPr>
            <a:spLocks noGrp="1"/>
          </p:cNvSpPr>
          <p:nvPr>
            <p:ph idx="1"/>
          </p:nvPr>
        </p:nvSpPr>
        <p:spPr>
          <a:xfrm>
            <a:off x="180681" y="1391991"/>
            <a:ext cx="11830638" cy="5253905"/>
          </a:xfrm>
        </p:spPr>
        <p:txBody>
          <a:bodyPr>
            <a:normAutofit fontScale="92500" lnSpcReduction="10000"/>
          </a:bodyPr>
          <a:lstStyle/>
          <a:p>
            <a:pPr marL="0" indent="0">
              <a:buNone/>
            </a:pPr>
            <a:r>
              <a:rPr lang="en-GB" b="1" dirty="0"/>
              <a:t>Demo Steps</a:t>
            </a:r>
          </a:p>
          <a:p>
            <a:r>
              <a:rPr lang="en-GB" dirty="0"/>
              <a:t>Review Recommendations</a:t>
            </a:r>
          </a:p>
          <a:p>
            <a:r>
              <a:rPr lang="en-GB" dirty="0"/>
              <a:t>Select Approved Actions</a:t>
            </a:r>
          </a:p>
          <a:p>
            <a:r>
              <a:rPr lang="en-GB" dirty="0"/>
              <a:t>Click "Apply Plan"</a:t>
            </a:r>
          </a:p>
          <a:p>
            <a:r>
              <a:rPr lang="en-GB" dirty="0"/>
              <a:t>Send Commands to HVAC System</a:t>
            </a:r>
          </a:p>
          <a:p>
            <a:r>
              <a:rPr lang="en-GB" dirty="0"/>
              <a:t>Receive Execution Status</a:t>
            </a:r>
          </a:p>
          <a:p>
            <a:r>
              <a:rPr lang="en-GB" dirty="0"/>
              <a:t>Store Audit Log</a:t>
            </a:r>
          </a:p>
          <a:p>
            <a:pPr marL="0" indent="0">
              <a:buNone/>
            </a:pPr>
            <a:endParaRPr lang="en-GB" dirty="0"/>
          </a:p>
          <a:p>
            <a:pPr marL="0" indent="0">
              <a:buNone/>
            </a:pPr>
            <a:r>
              <a:rPr lang="en-GB" dirty="0"/>
              <a:t>In this demonstration, the Facility Manager reviews and approves the recommended HVAC changes. The system packages the approved plan and sends commands to the HVAC control gateway. Each command returns a status indicating whether execution was successful. The results are then stored in an audit log for future reference.</a:t>
            </a:r>
          </a:p>
        </p:txBody>
      </p:sp>
      <p:graphicFrame>
        <p:nvGraphicFramePr>
          <p:cNvPr id="4" name="Table 3">
            <a:extLst>
              <a:ext uri="{FF2B5EF4-FFF2-40B4-BE49-F238E27FC236}">
                <a16:creationId xmlns:a16="http://schemas.microsoft.com/office/drawing/2014/main" id="{8367FD23-99BF-4B3D-B880-431AA50DBC57}"/>
              </a:ext>
            </a:extLst>
          </p:cNvPr>
          <p:cNvGraphicFramePr>
            <a:graphicFrameLocks noGrp="1"/>
          </p:cNvGraphicFramePr>
          <p:nvPr>
            <p:extLst>
              <p:ext uri="{D42A27DB-BD31-4B8C-83A1-F6EECF244321}">
                <p14:modId xmlns:p14="http://schemas.microsoft.com/office/powerpoint/2010/main" val="4056684834"/>
              </p:ext>
            </p:extLst>
          </p:nvPr>
        </p:nvGraphicFramePr>
        <p:xfrm>
          <a:off x="5561814" y="1951348"/>
          <a:ext cx="4817097" cy="1404596"/>
        </p:xfrm>
        <a:graphic>
          <a:graphicData uri="http://schemas.openxmlformats.org/drawingml/2006/table">
            <a:tbl>
              <a:tblPr firstRow="1" firstCol="1" bandRow="1">
                <a:tableStyleId>{5C22544A-7EE6-4342-B048-85BDC9FD1C3A}</a:tableStyleId>
              </a:tblPr>
              <a:tblGrid>
                <a:gridCol w="1605699">
                  <a:extLst>
                    <a:ext uri="{9D8B030D-6E8A-4147-A177-3AD203B41FA5}">
                      <a16:colId xmlns:a16="http://schemas.microsoft.com/office/drawing/2014/main" val="1085702826"/>
                    </a:ext>
                  </a:extLst>
                </a:gridCol>
                <a:gridCol w="1605699">
                  <a:extLst>
                    <a:ext uri="{9D8B030D-6E8A-4147-A177-3AD203B41FA5}">
                      <a16:colId xmlns:a16="http://schemas.microsoft.com/office/drawing/2014/main" val="2087747343"/>
                    </a:ext>
                  </a:extLst>
                </a:gridCol>
                <a:gridCol w="1605699">
                  <a:extLst>
                    <a:ext uri="{9D8B030D-6E8A-4147-A177-3AD203B41FA5}">
                      <a16:colId xmlns:a16="http://schemas.microsoft.com/office/drawing/2014/main" val="3306840745"/>
                    </a:ext>
                  </a:extLst>
                </a:gridCol>
              </a:tblGrid>
              <a:tr h="351149">
                <a:tc>
                  <a:txBody>
                    <a:bodyPr/>
                    <a:lstStyle/>
                    <a:p>
                      <a:pPr>
                        <a:lnSpc>
                          <a:spcPct val="107000"/>
                        </a:lnSpc>
                        <a:spcAft>
                          <a:spcPts val="0"/>
                        </a:spcAft>
                      </a:pPr>
                      <a:r>
                        <a:rPr lang="en-GB" sz="1100">
                          <a:effectLst/>
                        </a:rPr>
                        <a:t>Zone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Action</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Status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41593622"/>
                  </a:ext>
                </a:extLst>
              </a:tr>
              <a:tr h="351149">
                <a:tc>
                  <a:txBody>
                    <a:bodyPr/>
                    <a:lstStyle/>
                    <a:p>
                      <a:pPr>
                        <a:lnSpc>
                          <a:spcPct val="107000"/>
                        </a:lnSpc>
                        <a:spcAft>
                          <a:spcPts val="0"/>
                        </a:spcAft>
                      </a:pPr>
                      <a:r>
                        <a:rPr lang="en-GB" sz="1100">
                          <a:effectLst/>
                        </a:rPr>
                        <a:t>Lobby</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Set 74°F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Success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7570861"/>
                  </a:ext>
                </a:extLst>
              </a:tr>
              <a:tr h="351149">
                <a:tc>
                  <a:txBody>
                    <a:bodyPr/>
                    <a:lstStyle/>
                    <a:p>
                      <a:pPr>
                        <a:lnSpc>
                          <a:spcPct val="107000"/>
                        </a:lnSpc>
                        <a:spcAft>
                          <a:spcPts val="0"/>
                        </a:spcAft>
                      </a:pPr>
                      <a:r>
                        <a:rPr lang="en-GB" sz="1100">
                          <a:effectLst/>
                        </a:rPr>
                        <a:t>Conference Room</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Set 73°F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Success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82561087"/>
                  </a:ext>
                </a:extLst>
              </a:tr>
              <a:tr h="351149">
                <a:tc>
                  <a:txBody>
                    <a:bodyPr/>
                    <a:lstStyle/>
                    <a:p>
                      <a:pPr>
                        <a:lnSpc>
                          <a:spcPct val="107000"/>
                        </a:lnSpc>
                        <a:spcAft>
                          <a:spcPts val="0"/>
                        </a:spcAft>
                      </a:pPr>
                      <a:r>
                        <a:rPr lang="en-GB" sz="1100">
                          <a:effectLst/>
                        </a:rPr>
                        <a:t>Office Area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Set 74°F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dirty="0">
                          <a:effectLst/>
                        </a:rPr>
                        <a:t>Success</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27116813"/>
                  </a:ext>
                </a:extLst>
              </a:tr>
            </a:tbl>
          </a:graphicData>
        </a:graphic>
      </p:graphicFrame>
    </p:spTree>
    <p:extLst>
      <p:ext uri="{BB962C8B-B14F-4D97-AF65-F5344CB8AC3E}">
        <p14:creationId xmlns:p14="http://schemas.microsoft.com/office/powerpoint/2010/main" val="3754936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C5907-B2C0-4F24-A2F5-666DBB0E3BDB}"/>
              </a:ext>
            </a:extLst>
          </p:cNvPr>
          <p:cNvSpPr>
            <a:spLocks noGrp="1"/>
          </p:cNvSpPr>
          <p:nvPr>
            <p:ph type="title"/>
          </p:nvPr>
        </p:nvSpPr>
        <p:spPr>
          <a:xfrm>
            <a:off x="838200" y="365125"/>
            <a:ext cx="10515600" cy="756665"/>
          </a:xfrm>
        </p:spPr>
        <p:txBody>
          <a:bodyPr>
            <a:normAutofit fontScale="90000"/>
          </a:bodyPr>
          <a:lstStyle/>
          <a:p>
            <a:pPr algn="ctr"/>
            <a:r>
              <a:rPr lang="en-GB" b="1" dirty="0">
                <a:latin typeface="+mn-lt"/>
              </a:rPr>
              <a:t>Use Case 6 – Adapt Plan to Occupancy Change</a:t>
            </a:r>
          </a:p>
        </p:txBody>
      </p:sp>
      <p:sp>
        <p:nvSpPr>
          <p:cNvPr id="3" name="Content Placeholder 2">
            <a:extLst>
              <a:ext uri="{FF2B5EF4-FFF2-40B4-BE49-F238E27FC236}">
                <a16:creationId xmlns:a16="http://schemas.microsoft.com/office/drawing/2014/main" id="{23717A5E-EEB4-4C22-84F8-1FF39BC28B1D}"/>
              </a:ext>
            </a:extLst>
          </p:cNvPr>
          <p:cNvSpPr>
            <a:spLocks noGrp="1"/>
          </p:cNvSpPr>
          <p:nvPr>
            <p:ph idx="1"/>
          </p:nvPr>
        </p:nvSpPr>
        <p:spPr>
          <a:xfrm>
            <a:off x="838200" y="1121790"/>
            <a:ext cx="10515600" cy="5486400"/>
          </a:xfrm>
        </p:spPr>
        <p:txBody>
          <a:bodyPr>
            <a:normAutofit lnSpcReduction="10000"/>
          </a:bodyPr>
          <a:lstStyle/>
          <a:p>
            <a:pPr marL="0" indent="0">
              <a:buNone/>
            </a:pPr>
            <a:r>
              <a:rPr lang="en-GB" b="1" dirty="0"/>
              <a:t>Objective</a:t>
            </a:r>
          </a:p>
          <a:p>
            <a:r>
              <a:rPr lang="en-GB" dirty="0"/>
              <a:t>Automatically revise energy plans when occupancy patterns change.</a:t>
            </a:r>
          </a:p>
          <a:p>
            <a:pPr marL="0" indent="0">
              <a:buNone/>
            </a:pPr>
            <a:r>
              <a:rPr lang="en-GB" b="1" dirty="0"/>
              <a:t>Trigger Event</a:t>
            </a:r>
          </a:p>
          <a:p>
            <a:r>
              <a:rPr lang="en-GB" dirty="0"/>
              <a:t>Unexpected occupancy increase or decrease.</a:t>
            </a:r>
          </a:p>
          <a:p>
            <a:pPr marL="0" indent="0">
              <a:buNone/>
            </a:pPr>
            <a:r>
              <a:rPr lang="en-GB" b="1" dirty="0"/>
              <a:t>Expected Result</a:t>
            </a:r>
          </a:p>
          <a:p>
            <a:r>
              <a:rPr lang="en-GB" dirty="0"/>
              <a:t>Updated recommendations based on current conditions.</a:t>
            </a:r>
          </a:p>
          <a:p>
            <a:pPr marL="0" indent="0">
              <a:buNone/>
            </a:pPr>
            <a:endParaRPr lang="en-GB" dirty="0"/>
          </a:p>
          <a:p>
            <a:pPr marL="0" indent="0">
              <a:buNone/>
            </a:pPr>
            <a:r>
              <a:rPr lang="en-GB" dirty="0"/>
              <a:t>Buildings are dynamic environments, and occupancy often changes unexpectedly. This use case allows the system to respond automatically to real-time occupancy changes. Instead of relying on outdated assumptions, the optimization engine recalculates recommendations using current occupancy information.</a:t>
            </a:r>
          </a:p>
        </p:txBody>
      </p:sp>
    </p:spTree>
    <p:extLst>
      <p:ext uri="{BB962C8B-B14F-4D97-AF65-F5344CB8AC3E}">
        <p14:creationId xmlns:p14="http://schemas.microsoft.com/office/powerpoint/2010/main" val="5912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D3236-C3AF-44A3-8ECC-67D733CAADC9}"/>
              </a:ext>
            </a:extLst>
          </p:cNvPr>
          <p:cNvSpPr>
            <a:spLocks noGrp="1"/>
          </p:cNvSpPr>
          <p:nvPr>
            <p:ph type="title"/>
          </p:nvPr>
        </p:nvSpPr>
        <p:spPr>
          <a:xfrm>
            <a:off x="838200" y="365126"/>
            <a:ext cx="10515600" cy="445580"/>
          </a:xfrm>
        </p:spPr>
        <p:txBody>
          <a:bodyPr>
            <a:normAutofit fontScale="90000"/>
          </a:bodyPr>
          <a:lstStyle/>
          <a:p>
            <a:pPr algn="ctr"/>
            <a:r>
              <a:rPr lang="en-GB" b="1" dirty="0">
                <a:latin typeface="+mn-lt"/>
              </a:rPr>
              <a:t>Demonstration – Adapt Plan to Occupancy Change</a:t>
            </a:r>
          </a:p>
        </p:txBody>
      </p:sp>
      <p:sp>
        <p:nvSpPr>
          <p:cNvPr id="3" name="Content Placeholder 2">
            <a:extLst>
              <a:ext uri="{FF2B5EF4-FFF2-40B4-BE49-F238E27FC236}">
                <a16:creationId xmlns:a16="http://schemas.microsoft.com/office/drawing/2014/main" id="{83347BC8-69FF-4869-BCA7-54468D1740A9}"/>
              </a:ext>
            </a:extLst>
          </p:cNvPr>
          <p:cNvSpPr>
            <a:spLocks noGrp="1"/>
          </p:cNvSpPr>
          <p:nvPr>
            <p:ph idx="1"/>
          </p:nvPr>
        </p:nvSpPr>
        <p:spPr>
          <a:xfrm>
            <a:off x="245097" y="1206630"/>
            <a:ext cx="11755225" cy="5524107"/>
          </a:xfrm>
        </p:spPr>
        <p:txBody>
          <a:bodyPr>
            <a:normAutofit fontScale="77500" lnSpcReduction="20000"/>
          </a:bodyPr>
          <a:lstStyle/>
          <a:p>
            <a:pPr marL="0" indent="0">
              <a:buNone/>
            </a:pPr>
            <a:r>
              <a:rPr lang="en-GB" b="1" dirty="0"/>
              <a:t>Scenario</a:t>
            </a:r>
          </a:p>
          <a:p>
            <a:r>
              <a:rPr lang="en-GB" dirty="0"/>
              <a:t>Conference Room unexpectedly occupied by 25 people.</a:t>
            </a:r>
          </a:p>
          <a:p>
            <a:pPr marL="0" indent="0">
              <a:buNone/>
            </a:pPr>
            <a:r>
              <a:rPr lang="en-GB" b="1" dirty="0"/>
              <a:t>System Actions</a:t>
            </a:r>
          </a:p>
          <a:p>
            <a:r>
              <a:rPr lang="en-GB" dirty="0"/>
              <a:t>Detect occupancy change</a:t>
            </a:r>
          </a:p>
          <a:p>
            <a:r>
              <a:rPr lang="en-GB" dirty="0"/>
              <a:t>Compare current plan with new conditions</a:t>
            </a:r>
          </a:p>
          <a:p>
            <a:r>
              <a:rPr lang="en-GB" dirty="0"/>
              <a:t>Recalculate HVAC settings</a:t>
            </a:r>
          </a:p>
          <a:p>
            <a:r>
              <a:rPr lang="en-GB" dirty="0"/>
              <a:t>Notify Facility Manager</a:t>
            </a:r>
          </a:p>
          <a:p>
            <a:r>
              <a:rPr lang="en-GB" dirty="0"/>
              <a:t>Update recommendations</a:t>
            </a:r>
          </a:p>
          <a:p>
            <a:pPr marL="0" indent="0">
              <a:buNone/>
            </a:pPr>
            <a:r>
              <a:rPr lang="en-GB" b="1" dirty="0"/>
              <a:t>Result</a:t>
            </a:r>
          </a:p>
          <a:p>
            <a:r>
              <a:rPr lang="en-GB" dirty="0"/>
              <a:t>Comfort maintained while minimizing energy waste.</a:t>
            </a:r>
          </a:p>
          <a:p>
            <a:pPr marL="0" indent="0">
              <a:buNone/>
            </a:pPr>
            <a:endParaRPr lang="en-GB" dirty="0"/>
          </a:p>
          <a:p>
            <a:pPr marL="0" indent="0">
              <a:buNone/>
            </a:pPr>
            <a:r>
              <a:rPr lang="en-GB" dirty="0"/>
              <a:t>For this example, assume a conference room was originally expected to be empty but suddenly hosts a meeting with twenty-five people. The system detects the occupancy increase through occupancy monitoring services. It recalculates energy requirements and modifies the HVAC plan accordingly. The Facility Manager receives a notification describing the updated recommendations.</a:t>
            </a:r>
          </a:p>
          <a:p>
            <a:endParaRPr lang="en-GB" dirty="0"/>
          </a:p>
        </p:txBody>
      </p:sp>
    </p:spTree>
    <p:extLst>
      <p:ext uri="{BB962C8B-B14F-4D97-AF65-F5344CB8AC3E}">
        <p14:creationId xmlns:p14="http://schemas.microsoft.com/office/powerpoint/2010/main" val="1667036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0871A-3A94-42F0-B0B9-5E9EB1F47065}"/>
              </a:ext>
            </a:extLst>
          </p:cNvPr>
          <p:cNvSpPr>
            <a:spLocks noGrp="1"/>
          </p:cNvSpPr>
          <p:nvPr>
            <p:ph type="title"/>
          </p:nvPr>
        </p:nvSpPr>
        <p:spPr>
          <a:xfrm>
            <a:off x="838200" y="365125"/>
            <a:ext cx="10515600" cy="643543"/>
          </a:xfrm>
        </p:spPr>
        <p:txBody>
          <a:bodyPr>
            <a:normAutofit fontScale="90000"/>
          </a:bodyPr>
          <a:lstStyle/>
          <a:p>
            <a:pPr algn="ctr"/>
            <a:r>
              <a:rPr lang="en-GB" b="1" dirty="0">
                <a:latin typeface="+mn-lt"/>
              </a:rPr>
              <a:t>System Impact</a:t>
            </a:r>
          </a:p>
        </p:txBody>
      </p:sp>
      <p:sp>
        <p:nvSpPr>
          <p:cNvPr id="3" name="Content Placeholder 2">
            <a:extLst>
              <a:ext uri="{FF2B5EF4-FFF2-40B4-BE49-F238E27FC236}">
                <a16:creationId xmlns:a16="http://schemas.microsoft.com/office/drawing/2014/main" id="{B9F6B0C9-B4B2-4F99-8D69-7807FEC88416}"/>
              </a:ext>
            </a:extLst>
          </p:cNvPr>
          <p:cNvSpPr>
            <a:spLocks noGrp="1"/>
          </p:cNvSpPr>
          <p:nvPr>
            <p:ph idx="1"/>
          </p:nvPr>
        </p:nvSpPr>
        <p:spPr>
          <a:xfrm>
            <a:off x="188536" y="1008668"/>
            <a:ext cx="11792932" cy="5674936"/>
          </a:xfrm>
        </p:spPr>
        <p:txBody>
          <a:bodyPr>
            <a:normAutofit fontScale="92500" lnSpcReduction="20000"/>
          </a:bodyPr>
          <a:lstStyle/>
          <a:p>
            <a:pPr marL="0" indent="0">
              <a:buNone/>
            </a:pPr>
            <a:r>
              <a:rPr lang="en-GB" b="1" dirty="0"/>
              <a:t>Intelligent Energy Management</a:t>
            </a:r>
          </a:p>
          <a:p>
            <a:pPr marL="0" indent="0">
              <a:buNone/>
            </a:pPr>
            <a:r>
              <a:rPr lang="en-GB" dirty="0"/>
              <a:t>✓ Automated optimization</a:t>
            </a:r>
          </a:p>
          <a:p>
            <a:pPr marL="0" indent="0">
              <a:buNone/>
            </a:pPr>
            <a:r>
              <a:rPr lang="en-GB" dirty="0"/>
              <a:t>✓ Real-time decision support</a:t>
            </a:r>
          </a:p>
          <a:p>
            <a:pPr marL="0" indent="0">
              <a:buNone/>
            </a:pPr>
            <a:r>
              <a:rPr lang="en-GB" dirty="0"/>
              <a:t>✓ Occupancy-aware control</a:t>
            </a:r>
          </a:p>
          <a:p>
            <a:pPr marL="0" indent="0">
              <a:buNone/>
            </a:pPr>
            <a:r>
              <a:rPr lang="en-GB" dirty="0"/>
              <a:t>✓ Dynamic adaptation</a:t>
            </a:r>
          </a:p>
          <a:p>
            <a:pPr marL="0" indent="0">
              <a:buNone/>
            </a:pPr>
            <a:r>
              <a:rPr lang="en-GB" b="1" dirty="0"/>
              <a:t>Performance Goals</a:t>
            </a:r>
          </a:p>
          <a:p>
            <a:r>
              <a:rPr lang="en-GB" dirty="0"/>
              <a:t>Recommendation generation &lt; 5 seconds</a:t>
            </a:r>
          </a:p>
          <a:p>
            <a:r>
              <a:rPr lang="en-GB" dirty="0"/>
              <a:t>Plan execution begins &lt; 10 seconds</a:t>
            </a:r>
          </a:p>
          <a:p>
            <a:r>
              <a:rPr lang="en-GB" dirty="0"/>
              <a:t>Occupancy adaptation &lt; 2 seconds</a:t>
            </a:r>
          </a:p>
          <a:p>
            <a:pPr marL="0" indent="0">
              <a:buNone/>
            </a:pPr>
            <a:endParaRPr lang="en-GB" dirty="0"/>
          </a:p>
          <a:p>
            <a:pPr marL="0" indent="0">
              <a:buNone/>
            </a:pPr>
            <a:r>
              <a:rPr lang="en-GB" dirty="0"/>
              <a:t>These three use cases demonstrate the intelligent capabilities of the Smart Building Energy Optimization Assistant. The system not only recommends energy-saving actions but also executes approved plans and continuously adapts to changing building conditions. These capabilities improve efficiency while maintaining occupant comfort.</a:t>
            </a:r>
          </a:p>
          <a:p>
            <a:endParaRPr lang="en-GB" dirty="0"/>
          </a:p>
        </p:txBody>
      </p:sp>
    </p:spTree>
    <p:extLst>
      <p:ext uri="{BB962C8B-B14F-4D97-AF65-F5344CB8AC3E}">
        <p14:creationId xmlns:p14="http://schemas.microsoft.com/office/powerpoint/2010/main" val="592369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AAB4E-9446-4842-8040-3175D9E19D52}"/>
              </a:ext>
            </a:extLst>
          </p:cNvPr>
          <p:cNvSpPr>
            <a:spLocks noGrp="1"/>
          </p:cNvSpPr>
          <p:nvPr>
            <p:ph type="title"/>
          </p:nvPr>
        </p:nvSpPr>
        <p:spPr>
          <a:xfrm>
            <a:off x="838200" y="365126"/>
            <a:ext cx="10515600" cy="652970"/>
          </a:xfrm>
        </p:spPr>
        <p:txBody>
          <a:bodyPr>
            <a:normAutofit fontScale="90000"/>
          </a:bodyPr>
          <a:lstStyle/>
          <a:p>
            <a:pPr algn="ctr"/>
            <a:r>
              <a:rPr lang="en-GB" b="1" dirty="0">
                <a:latin typeface="+mn-lt"/>
              </a:rPr>
              <a:t>Conclusion</a:t>
            </a:r>
          </a:p>
        </p:txBody>
      </p:sp>
      <p:sp>
        <p:nvSpPr>
          <p:cNvPr id="3" name="Content Placeholder 2">
            <a:extLst>
              <a:ext uri="{FF2B5EF4-FFF2-40B4-BE49-F238E27FC236}">
                <a16:creationId xmlns:a16="http://schemas.microsoft.com/office/drawing/2014/main" id="{9C722150-4D4F-4B1A-95E9-D139FD4C3861}"/>
              </a:ext>
            </a:extLst>
          </p:cNvPr>
          <p:cNvSpPr>
            <a:spLocks noGrp="1"/>
          </p:cNvSpPr>
          <p:nvPr>
            <p:ph idx="1"/>
          </p:nvPr>
        </p:nvSpPr>
        <p:spPr>
          <a:xfrm>
            <a:off x="197963" y="1131216"/>
            <a:ext cx="11849493" cy="5618376"/>
          </a:xfrm>
        </p:spPr>
        <p:txBody>
          <a:bodyPr>
            <a:normAutofit fontScale="85000" lnSpcReduction="20000"/>
          </a:bodyPr>
          <a:lstStyle/>
          <a:p>
            <a:pPr marL="0" indent="0">
              <a:buNone/>
            </a:pPr>
            <a:r>
              <a:rPr lang="en-GB" b="1" dirty="0"/>
              <a:t>Successfully Demonstrated</a:t>
            </a:r>
          </a:p>
          <a:p>
            <a:pPr marL="0" indent="0">
              <a:buNone/>
            </a:pPr>
            <a:r>
              <a:rPr lang="en-GB" dirty="0"/>
              <a:t>✓ UC4.4 – Recommend HVAC Setpoint Changes</a:t>
            </a:r>
          </a:p>
          <a:p>
            <a:pPr marL="0" indent="0">
              <a:buNone/>
            </a:pPr>
            <a:r>
              <a:rPr lang="en-GB" dirty="0"/>
              <a:t>✓ UC4.5 – Apply Approved Energy Plan</a:t>
            </a:r>
          </a:p>
          <a:p>
            <a:pPr marL="0" indent="0">
              <a:buNone/>
            </a:pPr>
            <a:r>
              <a:rPr lang="en-GB" dirty="0"/>
              <a:t>✓ UC4.6 – Adapt Plan to Occupancy Change</a:t>
            </a:r>
          </a:p>
          <a:p>
            <a:pPr marL="0" indent="0">
              <a:buNone/>
            </a:pPr>
            <a:r>
              <a:rPr lang="en-GB" b="1" dirty="0"/>
              <a:t>Outcome</a:t>
            </a:r>
          </a:p>
          <a:p>
            <a:r>
              <a:rPr lang="en-GB" dirty="0"/>
              <a:t>The system can now:</a:t>
            </a:r>
          </a:p>
          <a:p>
            <a:r>
              <a:rPr lang="en-GB" dirty="0"/>
              <a:t>Generate optimization recommendations</a:t>
            </a:r>
          </a:p>
          <a:p>
            <a:r>
              <a:rPr lang="en-GB" dirty="0"/>
              <a:t>Execute approved plans</a:t>
            </a:r>
          </a:p>
          <a:p>
            <a:r>
              <a:rPr lang="en-GB" dirty="0"/>
              <a:t>Adapt to real-time occupancy changes</a:t>
            </a:r>
          </a:p>
          <a:p>
            <a:pPr marL="0" indent="0">
              <a:buNone/>
            </a:pPr>
            <a:endParaRPr lang="en-GB" dirty="0"/>
          </a:p>
          <a:p>
            <a:pPr marL="0" indent="0">
              <a:buNone/>
            </a:pPr>
            <a:r>
              <a:rPr lang="en-GB" dirty="0"/>
              <a:t>In conclusion, this demonstration showed how the Smart Building Energy Optimization Assistant progresses from forecasting to intelligent energy management. The system successfully recommends HVAC adjustments, applies approved energy plans, and dynamically adapts to occupancy changes. These capabilities move the project closer to a fully autonomous building energy optimization solution. Thank you for your time, and I welcome any questions.</a:t>
            </a:r>
          </a:p>
          <a:p>
            <a:endParaRPr lang="en-GB" dirty="0"/>
          </a:p>
        </p:txBody>
      </p:sp>
    </p:spTree>
    <p:extLst>
      <p:ext uri="{BB962C8B-B14F-4D97-AF65-F5344CB8AC3E}">
        <p14:creationId xmlns:p14="http://schemas.microsoft.com/office/powerpoint/2010/main" val="16445157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1089</Words>
  <Application>Microsoft Office PowerPoint</Application>
  <PresentationFormat>Widescreen</PresentationFormat>
  <Paragraphs>154</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PowerPoint Presentation</vt:lpstr>
      <vt:lpstr>Introduction</vt:lpstr>
      <vt:lpstr>Review of Previous Implementation</vt:lpstr>
      <vt:lpstr>System Workflow</vt:lpstr>
      <vt:lpstr>Use Case 4 – Recommend HVAC Setpoint Changes</vt:lpstr>
      <vt:lpstr>Demonstration – Recommend HVAC Setpoint Changes</vt:lpstr>
      <vt:lpstr>Benefits of HVAC Recommendations</vt:lpstr>
      <vt:lpstr>Use Case 5 – Apply Approved Energy Plan</vt:lpstr>
      <vt:lpstr>Demonstration – Apply Approved Energy Plan</vt:lpstr>
      <vt:lpstr>Use Case 6 – Adapt Plan to Occupancy Change</vt:lpstr>
      <vt:lpstr>Demonstration – Adapt Plan to Occupancy Change</vt:lpstr>
      <vt:lpstr>System Impact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Stephanie</dc:creator>
  <cp:lastModifiedBy>Stephanie</cp:lastModifiedBy>
  <cp:revision>4</cp:revision>
  <dcterms:created xsi:type="dcterms:W3CDTF">2026-06-15T19:13:51Z</dcterms:created>
  <dcterms:modified xsi:type="dcterms:W3CDTF">2026-06-15T20:12:33Z</dcterms:modified>
</cp:coreProperties>
</file>